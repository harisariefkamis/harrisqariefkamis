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63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34.png"/><Relationship Id="rId4" Type="http://schemas.openxmlformats.org/officeDocument/2006/relationships/image" Target="../media/image62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0" y="0"/>
            <a:ext cx="7048500" cy="685800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0" y="-1143000"/>
            <a:ext cx="7029450" cy="8001000"/>
          </a:xfrm>
          <a:prstGeom prst="roundRect">
            <a:avLst>
              <a:gd name="adj" fmla="val 2168"/>
            </a:avLst>
          </a:prstGeom>
          <a:solidFill>
            <a:srgbClr val="FFFFFF">
              <a:alpha val="90000"/>
            </a:srgbClr>
          </a:solidFill>
          <a:ln/>
          <a:effectLst>
            <a:outerShdw blurRad="304800" dist="1524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>
            <a:alphaModFix amt="90000"/>
          </a:blip>
          <a:srcRect l="24375" r="24375"/>
          <a:stretch/>
        </p:blipFill>
        <p:spPr>
          <a:xfrm>
            <a:off x="5524500" y="-1905000"/>
            <a:ext cx="7029450" cy="914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0" y="0"/>
            <a:ext cx="7048500" cy="6858000"/>
          </a:xfrm>
          <a:prstGeom prst="rect">
            <a:avLst/>
          </a:prstGeom>
          <a:solidFill>
            <a:srgbClr val="0057B8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62500" y="381000"/>
            <a:ext cx="1724025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</a:ln>
          <a:effectLst>
            <a:outerShdw blurRad="304800" dist="1524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image.png"/>
          <p:cNvPicPr>
            <a:picLocks noChangeAspect="1"/>
          </p:cNvPicPr>
          <p:nvPr/>
        </p:nvPicPr>
        <p:blipFill>
          <a:blip r:embed="rId4"/>
          <a:srcRect t="1445" b="1445"/>
          <a:stretch/>
        </p:blipFill>
        <p:spPr>
          <a:xfrm>
            <a:off x="4800600" y="419100"/>
            <a:ext cx="1647825" cy="1066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53000" y="1714500"/>
            <a:ext cx="148590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</a:ln>
          <a:effectLst>
            <a:outerShdw blurRad="304800" dist="1524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image.png"/>
          <p:cNvPicPr>
            <a:picLocks noChangeAspect="1"/>
          </p:cNvPicPr>
          <p:nvPr/>
        </p:nvPicPr>
        <p:blipFill>
          <a:blip r:embed="rId4"/>
          <a:srcRect t="1351" b="1351"/>
          <a:stretch/>
        </p:blipFill>
        <p:spPr>
          <a:xfrm>
            <a:off x="4991100" y="1752600"/>
            <a:ext cx="1409700" cy="914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34400" y="3429000"/>
            <a:ext cx="2162175" cy="2162175"/>
          </a:xfrm>
          <a:prstGeom prst="roundRect">
            <a:avLst>
              <a:gd name="adj" fmla="val 422907"/>
            </a:avLst>
          </a:prstGeom>
          <a:solidFill>
            <a:srgbClr val="FFFFFF">
              <a:alpha val="0"/>
            </a:srgbClr>
          </a:solidFill>
          <a:ln w="57150">
            <a:solidFill>
              <a:srgbClr val="FFFFFF"/>
            </a:solidFill>
          </a:ln>
          <a:effectLst>
            <a:outerShdw blurRad="304800" dist="1524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3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2500" y="3486150"/>
            <a:ext cx="2047875" cy="2047875"/>
          </a:xfrm>
          <a:prstGeom prst="ellipse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15125" y="3984277"/>
            <a:ext cx="1666875" cy="1285875"/>
          </a:xfrm>
          <a:prstGeom prst="roundRect">
            <a:avLst>
              <a:gd name="adj" fmla="val 11852"/>
            </a:avLst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</a:ln>
          <a:effectLst>
            <a:outerShdw blurRad="304800" dist="1524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4" descr="image.png"/>
          <p:cNvPicPr>
            <a:picLocks noChangeAspect="1"/>
          </p:cNvPicPr>
          <p:nvPr/>
        </p:nvPicPr>
        <p:blipFill>
          <a:blip r:embed="rId6"/>
          <a:srcRect t="792" b="793"/>
          <a:stretch/>
        </p:blipFill>
        <p:spPr>
          <a:xfrm>
            <a:off x="6791325" y="4022378"/>
            <a:ext cx="1590675" cy="12096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1500" y="985093"/>
            <a:ext cx="2167086" cy="457200"/>
          </a:xfrm>
          <a:prstGeom prst="roundRect">
            <a:avLst>
              <a:gd name="adj" fmla="val 33333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797793" y="1099393"/>
            <a:ext cx="175564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7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PROYEK AKHIR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571500" y="1670893"/>
            <a:ext cx="571500" cy="57150"/>
          </a:xfrm>
          <a:prstGeom prst="roundRect">
            <a:avLst>
              <a:gd name="adj" fmla="val 66667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571500" y="2031802"/>
            <a:ext cx="4005072" cy="1764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Belajar Dasar Python</a:t>
            </a:r>
            <a:endParaRPr lang="en-US" sz="4200" dirty="0"/>
          </a:p>
        </p:txBody>
      </p:sp>
      <p:sp>
        <p:nvSpPr>
          <p:cNvPr id="19" name="Text 12"/>
          <p:cNvSpPr/>
          <p:nvPr/>
        </p:nvSpPr>
        <p:spPr>
          <a:xfrm>
            <a:off x="571500" y="4022378"/>
            <a:ext cx="4087368" cy="3749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028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Menggunakan Google Colab</a:t>
            </a:r>
            <a:endParaRPr lang="en-US" sz="2100" dirty="0"/>
          </a:p>
        </p:txBody>
      </p:sp>
      <p:sp>
        <p:nvSpPr>
          <p:cNvPr id="20" name="Text 13"/>
          <p:cNvSpPr/>
          <p:nvPr/>
        </p:nvSpPr>
        <p:spPr>
          <a:xfrm>
            <a:off x="571500" y="4776639"/>
            <a:ext cx="4005072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Sebuah pengantar komprehensif untuk memahami pemrograman Python dan analisis data melalui lingkungan interaktif Google Colab.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577378" y="473854"/>
            <a:ext cx="1485900" cy="9906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3"/>
          <a:srcRect l="138" r="138"/>
          <a:stretch/>
        </p:blipFill>
        <p:spPr>
          <a:xfrm>
            <a:off x="-358303" y="121429"/>
            <a:ext cx="1724025" cy="1152525"/>
          </a:xfrm>
          <a:prstGeom prst="rect">
            <a:avLst/>
          </a:prstGeom>
        </p:spPr>
      </p:pic>
      <p:pic>
        <p:nvPicPr>
          <p:cNvPr id="5" name="Image 2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72250" y="3267075"/>
            <a:ext cx="1466850" cy="14668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57428" y="456897"/>
            <a:ext cx="6062472" cy="1014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PELAJARI DASAR PYTHON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762000" y="1469678"/>
            <a:ext cx="6181344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Menggunakan Google Colab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762000" y="2165003"/>
            <a:ext cx="60579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  <a:effectLst>
            <a:outerShdw dist="80822" dir="2700000" algn="bl" rotWithShape="0">
              <a:srgbClr val="FFB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009650" y="2412653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288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23950" y="2517428"/>
            <a:ext cx="228600" cy="2476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57350" y="2412653"/>
            <a:ext cx="502005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Buka dan Salin File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1657350" y="2717453"/>
            <a:ext cx="4919472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Buka tautan Google Colab yang tersedia, lalu pilih menu </a:t>
            </a:r>
            <a:r>
              <a:rPr lang="en-US" sz="1200" b="1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&gt; Save a copy in drive</a:t>
            </a:r>
            <a:r>
              <a:rPr lang="en-US" sz="12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untuk menyimpan ke Google Drive masing-masing.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762000" y="3841403"/>
            <a:ext cx="60579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  <a:effectLst>
            <a:outerShdw dist="80822" dir="2700000" algn="bl" rotWithShape="0">
              <a:srgbClr val="FFB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1009650" y="4089053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288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4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23950" y="4193828"/>
            <a:ext cx="228600" cy="2476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57350" y="4089053"/>
            <a:ext cx="502005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Mulai Menulis Kode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657350" y="4393853"/>
            <a:ext cx="491947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Silakan edit dan ketik kode pemrograman langsung pada file Colab Anda sendiri.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762000" y="5289203"/>
            <a:ext cx="60579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  <a:effectLst>
            <a:outerShdw dist="80822" dir="2700000" algn="bl" rotWithShape="0">
              <a:srgbClr val="FFB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1009650" y="5536853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288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23950" y="5641628"/>
            <a:ext cx="228600" cy="2476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657350" y="5536853"/>
            <a:ext cx="502005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Perbarui Hasil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1657350" y="5841653"/>
            <a:ext cx="491947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Anda juga bisa me-refresh halaman tersebut agar Google Colab dapat memuat dan menampilkan hasil codingan terbaru.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7391400" y="609600"/>
            <a:ext cx="4038600" cy="56388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9050">
            <a:solidFill>
              <a:srgbClr val="21212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7791450" y="1009650"/>
            <a:ext cx="33101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Sumber Daya</a:t>
            </a:r>
            <a:endParaRPr lang="en-US" sz="1800" dirty="0"/>
          </a:p>
        </p:txBody>
      </p:sp>
      <p:sp>
        <p:nvSpPr>
          <p:cNvPr id="25" name="Shape 17"/>
          <p:cNvSpPr/>
          <p:nvPr/>
        </p:nvSpPr>
        <p:spPr>
          <a:xfrm>
            <a:off x="7791450" y="2790825"/>
            <a:ext cx="3238500" cy="0"/>
          </a:xfrm>
          <a:prstGeom prst="line">
            <a:avLst/>
          </a:prstGeom>
          <a:noFill/>
          <a:ln w="19050">
            <a:solidFill>
              <a:srgbClr val="757575"/>
            </a:solidFill>
            <a:prstDash val="solid"/>
          </a:ln>
        </p:spPr>
      </p:sp>
      <p:pic>
        <p:nvPicPr>
          <p:cNvPr id="26" name="Image 6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791450" y="1509713"/>
            <a:ext cx="266700" cy="2952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171929" y="1504950"/>
            <a:ext cx="195681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 GitHub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7791450" y="1924050"/>
            <a:ext cx="331012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 proyek akhir Python: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7791450" y="2152650"/>
            <a:ext cx="324612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028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https://github.com/harisariefkamis/Final-Project-DAB14/blob/main/Final_Project_Python.ipynb</a:t>
            </a:r>
            <a:endParaRPr lang="en-US" sz="1050" dirty="0"/>
          </a:p>
        </p:txBody>
      </p:sp>
      <p:pic>
        <p:nvPicPr>
          <p:cNvPr id="30" name="Image 7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91450" y="3109913"/>
            <a:ext cx="266700" cy="29527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170738" y="3105150"/>
            <a:ext cx="202082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Ruang Kerja Colab</a:t>
            </a:r>
            <a:endParaRPr lang="en-US" sz="1500" dirty="0"/>
          </a:p>
        </p:txBody>
      </p:sp>
      <p:sp>
        <p:nvSpPr>
          <p:cNvPr id="32" name="Text 22"/>
          <p:cNvSpPr/>
          <p:nvPr/>
        </p:nvSpPr>
        <p:spPr>
          <a:xfrm>
            <a:off x="7791450" y="3524250"/>
            <a:ext cx="331012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Akses langsung ke platform: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7791450" y="3752850"/>
            <a:ext cx="3246120" cy="603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028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https://colab.research.google.com/drive/1g5ICJHsmBhNCNEpj69TndS-uDDIdDwX2#scrollTo=pS0RDBljahpn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007715"/>
            <a:ext cx="4197096" cy="1014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kern="0" spc="-8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Kerangka Pembahasan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169691"/>
            <a:ext cx="4197096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Panduan komprehensif untuk memahami ekosistem Google Colaboratory serta dasar pemrograman Python.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371701"/>
            <a:ext cx="4191000" cy="247650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38100">
            <a:solidFill>
              <a:srgbClr val="0057B8"/>
            </a:solidFill>
          </a:ln>
          <a:effectLst>
            <a:outerShdw dist="161645" dir="2700000" algn="bl" rotWithShape="0">
              <a:srgbClr val="FFB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 t="6250" b="6250"/>
          <a:stretch/>
        </p:blipFill>
        <p:spPr>
          <a:xfrm>
            <a:off x="647700" y="3409801"/>
            <a:ext cx="4114800" cy="2400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05400" y="157311"/>
            <a:ext cx="6477000" cy="1186755"/>
          </a:xfrm>
          <a:prstGeom prst="roundRect">
            <a:avLst>
              <a:gd name="adj" fmla="val 64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05400" y="162074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82400" y="157311"/>
            <a:ext cx="0" cy="11867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05400" y="1339304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05400" y="157311"/>
            <a:ext cx="0" cy="1186755"/>
          </a:xfrm>
          <a:prstGeom prst="line">
            <a:avLst/>
          </a:prstGeom>
          <a:noFill/>
          <a:ln w="76200">
            <a:solidFill>
              <a:srgbClr val="0057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0200" y="357336"/>
            <a:ext cx="457200" cy="457200"/>
          </a:xfrm>
          <a:prstGeom prst="roundRect">
            <a:avLst>
              <a:gd name="adj" fmla="val 8333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24500" y="462111"/>
            <a:ext cx="228600" cy="2476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96000" y="355402"/>
            <a:ext cx="535838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 itu Google Colaboratory?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096000" y="686842"/>
            <a:ext cx="524865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Definisi dan pengenalan dasar mengenai platform komputasi awan dari Google.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105400" y="1496467"/>
            <a:ext cx="6477000" cy="1186755"/>
          </a:xfrm>
          <a:prstGeom prst="roundRect">
            <a:avLst>
              <a:gd name="adj" fmla="val 64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5105400" y="1501229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582400" y="1496467"/>
            <a:ext cx="0" cy="11867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05400" y="2678460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05400" y="1496467"/>
            <a:ext cx="0" cy="1186755"/>
          </a:xfrm>
          <a:prstGeom prst="line">
            <a:avLst/>
          </a:prstGeom>
          <a:noFill/>
          <a:ln w="76200">
            <a:solidFill>
              <a:srgbClr val="0057B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10200" y="1696492"/>
            <a:ext cx="457200" cy="457200"/>
          </a:xfrm>
          <a:prstGeom prst="roundRect">
            <a:avLst>
              <a:gd name="adj" fmla="val 8333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24500" y="1801267"/>
            <a:ext cx="228600" cy="2476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96000" y="1694557"/>
            <a:ext cx="535838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Fitur-Fitur Utama Google Colab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6096000" y="2025997"/>
            <a:ext cx="524865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Eksplorasi kemampuan dan alat bawaan yang mempermudah proses analisis dan kolaborasi.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105400" y="2835622"/>
            <a:ext cx="6477000" cy="1186755"/>
          </a:xfrm>
          <a:prstGeom prst="roundRect">
            <a:avLst>
              <a:gd name="adj" fmla="val 64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5105400" y="2840385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1582400" y="2835622"/>
            <a:ext cx="0" cy="11867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105400" y="4017615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105400" y="2835622"/>
            <a:ext cx="0" cy="1186755"/>
          </a:xfrm>
          <a:prstGeom prst="line">
            <a:avLst/>
          </a:prstGeom>
          <a:noFill/>
          <a:ln w="76200">
            <a:solidFill>
              <a:srgbClr val="0057B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410200" y="3035647"/>
            <a:ext cx="457200" cy="457200"/>
          </a:xfrm>
          <a:prstGeom prst="roundRect">
            <a:avLst>
              <a:gd name="adj" fmla="val 8333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24500" y="3140422"/>
            <a:ext cx="228600" cy="2476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096000" y="3033713"/>
            <a:ext cx="535838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Definisi Bahasa Python</a:t>
            </a:r>
            <a:endParaRPr lang="en-US" sz="1650" dirty="0"/>
          </a:p>
        </p:txBody>
      </p:sp>
      <p:sp>
        <p:nvSpPr>
          <p:cNvPr id="33" name="Text 27"/>
          <p:cNvSpPr/>
          <p:nvPr/>
        </p:nvSpPr>
        <p:spPr>
          <a:xfrm>
            <a:off x="6096000" y="3365153"/>
            <a:ext cx="524865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Mempelajari peran dan integrasi bahasa pemrograman Python dalam lingkungan Google Colab.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105400" y="4174778"/>
            <a:ext cx="6477000" cy="1186755"/>
          </a:xfrm>
          <a:prstGeom prst="roundRect">
            <a:avLst>
              <a:gd name="adj" fmla="val 64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29"/>
          <p:cNvSpPr/>
          <p:nvPr/>
        </p:nvSpPr>
        <p:spPr>
          <a:xfrm>
            <a:off x="5105400" y="4179540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1582400" y="4174778"/>
            <a:ext cx="0" cy="11867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105400" y="5356771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105400" y="4174778"/>
            <a:ext cx="0" cy="1186755"/>
          </a:xfrm>
          <a:prstGeom prst="line">
            <a:avLst/>
          </a:prstGeom>
          <a:noFill/>
          <a:ln w="76200">
            <a:solidFill>
              <a:srgbClr val="0057B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410200" y="4374803"/>
            <a:ext cx="457200" cy="457200"/>
          </a:xfrm>
          <a:prstGeom prst="roundRect">
            <a:avLst>
              <a:gd name="adj" fmla="val 8333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24500" y="4479578"/>
            <a:ext cx="228600" cy="24765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096000" y="4372868"/>
            <a:ext cx="535838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Keuntungan Menggunakan Python</a:t>
            </a:r>
            <a:endParaRPr lang="en-US" sz="1650" dirty="0"/>
          </a:p>
        </p:txBody>
      </p:sp>
      <p:sp>
        <p:nvSpPr>
          <p:cNvPr id="42" name="Text 35"/>
          <p:cNvSpPr/>
          <p:nvPr/>
        </p:nvSpPr>
        <p:spPr>
          <a:xfrm>
            <a:off x="6096000" y="4704308"/>
            <a:ext cx="524865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Alasan mengapa Python menjadi pilihan utama untuk pengembangan dan ilmu data.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105400" y="5513933"/>
            <a:ext cx="6477000" cy="1186755"/>
          </a:xfrm>
          <a:prstGeom prst="roundRect">
            <a:avLst>
              <a:gd name="adj" fmla="val 642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37"/>
          <p:cNvSpPr/>
          <p:nvPr/>
        </p:nvSpPr>
        <p:spPr>
          <a:xfrm>
            <a:off x="5105400" y="5518696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1582400" y="5513933"/>
            <a:ext cx="0" cy="1186755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5105400" y="6695926"/>
            <a:ext cx="6477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5105400" y="5513933"/>
            <a:ext cx="0" cy="1186755"/>
          </a:xfrm>
          <a:prstGeom prst="line">
            <a:avLst/>
          </a:prstGeom>
          <a:noFill/>
          <a:ln w="76200">
            <a:solidFill>
              <a:srgbClr val="0057B8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410200" y="5713958"/>
            <a:ext cx="457200" cy="457200"/>
          </a:xfrm>
          <a:prstGeom prst="roundRect">
            <a:avLst>
              <a:gd name="adj" fmla="val 8333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524500" y="5818733"/>
            <a:ext cx="228600" cy="24765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096000" y="5712023"/>
            <a:ext cx="535838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Proyek Akhir Python</a:t>
            </a:r>
            <a:endParaRPr lang="en-US" sz="1650" dirty="0"/>
          </a:p>
        </p:txBody>
      </p:sp>
      <p:sp>
        <p:nvSpPr>
          <p:cNvPr id="51" name="Text 43"/>
          <p:cNvSpPr/>
          <p:nvPr/>
        </p:nvSpPr>
        <p:spPr>
          <a:xfrm>
            <a:off x="6096000" y="6043464"/>
            <a:ext cx="524865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Penerapan langsung pengetahuan melalui proyek akhir menggunakan Google Colab.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67443" y="220436"/>
            <a:ext cx="5443" cy="457200"/>
          </a:xfrm>
          <a:prstGeom prst="line">
            <a:avLst/>
          </a:prstGeom>
          <a:noFill/>
          <a:ln w="76200">
            <a:solidFill>
              <a:srgbClr val="FFB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15406"/>
            <a:ext cx="7077456" cy="640080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 itu Google Colab?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2000" y="810518"/>
            <a:ext cx="6934200" cy="1933575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5850" y="1134368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38250" y="1272480"/>
            <a:ext cx="304800" cy="3333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4050" y="1134368"/>
            <a:ext cx="555955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Berbasis Cloud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924050" y="1562993"/>
            <a:ext cx="5449824" cy="8595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Menulis, menjalankan, dan membagikan kode Python secara langsung melalui peramban web tanpa konfigurasi yang rumit.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2000" y="2972693"/>
            <a:ext cx="6934200" cy="1933575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85850" y="32965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38250" y="3434655"/>
            <a:ext cx="304800" cy="3333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4050" y="3296543"/>
            <a:ext cx="555955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Alat Pemrograman Canggih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1924050" y="3725168"/>
            <a:ext cx="5449824" cy="8595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Solusi yang sangat berharga bagi pengembang dan antusias pemrograman yang bekerja dengan ekosistem Python.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62000" y="5134868"/>
            <a:ext cx="6934200" cy="1933575"/>
          </a:xfrm>
          <a:prstGeom prst="roundRect">
            <a:avLst>
              <a:gd name="adj" fmla="val 7882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085850" y="5458718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38250" y="5596830"/>
            <a:ext cx="304800" cy="3333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4050" y="5458718"/>
            <a:ext cx="555955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Fokus Utama Profesional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1924050" y="5887343"/>
            <a:ext cx="5449824" cy="8595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Sangat ideal untuk kebutuhan ilmu data (Data Science) dan pengembangan model pembelajaran mesin (Machine Learning).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0" y="2298650"/>
            <a:ext cx="3200400" cy="22605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38100">
            <a:solidFill>
              <a:srgbClr val="FFBF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image.png"/>
          <p:cNvPicPr>
            <a:picLocks noChangeAspect="1"/>
          </p:cNvPicPr>
          <p:nvPr/>
        </p:nvPicPr>
        <p:blipFill>
          <a:blip r:embed="rId6"/>
          <a:srcRect t="84" b="84"/>
          <a:stretch/>
        </p:blipFill>
        <p:spPr>
          <a:xfrm>
            <a:off x="8420100" y="2489150"/>
            <a:ext cx="2819400" cy="18764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668000" y="5334000"/>
            <a:ext cx="1905000" cy="1905000"/>
          </a:xfrm>
          <a:prstGeom prst="roundRect">
            <a:avLst>
              <a:gd name="adj" fmla="val 480000"/>
            </a:avLst>
          </a:prstGeom>
          <a:solidFill>
            <a:srgbClr val="0288D1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0458"/>
            <a:ext cx="4197096" cy="1197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Fitur Utama Google Colab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988641"/>
            <a:ext cx="952500" cy="75902"/>
          </a:xfrm>
          <a:prstGeom prst="roundRect">
            <a:avLst>
              <a:gd name="adj" fmla="val 50196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293144"/>
            <a:ext cx="4197096" cy="1527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Jelajahi berbagai kemampuan utama yang membuat Google Colab menjadi platform pilihan terbaik untuk pembelajaran, komputasi berat, dan pengembangan berbasis cloud.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4198144"/>
            <a:ext cx="4191000" cy="2088356"/>
          </a:xfrm>
          <a:prstGeom prst="roundRect">
            <a:avLst>
              <a:gd name="adj" fmla="val 7298"/>
            </a:avLst>
          </a:prstGeom>
          <a:solidFill>
            <a:srgbClr val="0057B8"/>
          </a:solidFill>
          <a:ln w="3810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image.png"/>
          <p:cNvPicPr>
            <a:picLocks noChangeAspect="1"/>
          </p:cNvPicPr>
          <p:nvPr/>
        </p:nvPicPr>
        <p:blipFill>
          <a:blip r:embed="rId3"/>
          <a:srcRect t="13368" b="13368"/>
          <a:stretch/>
        </p:blipFill>
        <p:spPr>
          <a:xfrm>
            <a:off x="800100" y="4236244"/>
            <a:ext cx="4114800" cy="20097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34000" y="666750"/>
            <a:ext cx="29337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334000" y="666750"/>
            <a:ext cx="76200" cy="2647950"/>
          </a:xfrm>
          <a:prstGeom prst="roundRect">
            <a:avLst>
              <a:gd name="adj" fmla="val 100000"/>
            </a:avLst>
          </a:prstGeom>
          <a:solidFill>
            <a:srgbClr val="0288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581650" y="9906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0" y="1109663"/>
            <a:ext cx="266700" cy="2952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81650" y="1714500"/>
            <a:ext cx="248716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Eksekusi Individual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81650" y="2076450"/>
            <a:ext cx="244144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Anda dapat menulis kode dalam sel yang dapat dijalankan secara individual dan melihat outputnya langsung di browser.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8496300" y="666750"/>
            <a:ext cx="29337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496300" y="666750"/>
            <a:ext cx="76200" cy="2647950"/>
          </a:xfrm>
          <a:prstGeom prst="roundRect">
            <a:avLst>
              <a:gd name="adj" fmla="val 100000"/>
            </a:avLst>
          </a:prstGeom>
          <a:solidFill>
            <a:srgbClr val="0288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743950" y="9906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77300" y="1109663"/>
            <a:ext cx="266700" cy="2952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43950" y="1714500"/>
            <a:ext cx="248716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Tanpa Instalasi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743950" y="2076450"/>
            <a:ext cx="244144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perlu instalasi software atau pengaturan lokal. Gunakan GPU dan TPU gratis untuk tugas komputasi berat.</a:t>
            </a:r>
            <a:endParaRPr lang="en-US" sz="1125" dirty="0"/>
          </a:p>
        </p:txBody>
      </p:sp>
      <p:sp>
        <p:nvSpPr>
          <p:cNvPr id="20" name="Text 15"/>
          <p:cNvSpPr/>
          <p:nvPr/>
        </p:nvSpPr>
        <p:spPr>
          <a:xfrm>
            <a:off x="5334000" y="3543300"/>
            <a:ext cx="29337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334000" y="3543300"/>
            <a:ext cx="76200" cy="2647950"/>
          </a:xfrm>
          <a:prstGeom prst="roundRect">
            <a:avLst>
              <a:gd name="adj" fmla="val 100000"/>
            </a:avLst>
          </a:prstGeom>
          <a:solidFill>
            <a:srgbClr val="0288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581650" y="38671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0" y="3986213"/>
            <a:ext cx="266700" cy="2952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81650" y="4591050"/>
            <a:ext cx="248716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Kolaborasi Real-time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581650" y="4953000"/>
            <a:ext cx="244144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Bagikan notebook Colab Anda dengan orang lain untuk bekerja bersama secara real-time dari mana saja.</a:t>
            </a:r>
            <a:endParaRPr lang="en-US" sz="1125" dirty="0"/>
          </a:p>
        </p:txBody>
      </p:sp>
      <p:sp>
        <p:nvSpPr>
          <p:cNvPr id="26" name="Text 20"/>
          <p:cNvSpPr/>
          <p:nvPr/>
        </p:nvSpPr>
        <p:spPr>
          <a:xfrm>
            <a:off x="8496300" y="3543300"/>
            <a:ext cx="29337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8496300" y="3543300"/>
            <a:ext cx="76200" cy="2647950"/>
          </a:xfrm>
          <a:prstGeom prst="roundRect">
            <a:avLst>
              <a:gd name="adj" fmla="val 100000"/>
            </a:avLst>
          </a:prstGeom>
          <a:solidFill>
            <a:srgbClr val="0288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8743950" y="38671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77300" y="3986213"/>
            <a:ext cx="266700" cy="29527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743950" y="4591050"/>
            <a:ext cx="248716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Gratis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8743950" y="4953000"/>
            <a:ext cx="244144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Gunakan seluruh fitur canggih ini dengan akun Google Anda secara GRATIS tanpa memerlukan biaya apapun !!!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54896"/>
            <a:ext cx="571500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71500" y="963216"/>
            <a:ext cx="0" cy="1005483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961132"/>
            <a:ext cx="5532120" cy="10149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Bahasa pemrograman tingkat tinggi yang serbaguna, mudah dipelajari, dan digunakan secara luas di berbagai bidang.</a:t>
            </a:r>
            <a:endParaRPr lang="en-US" sz="1650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2359223"/>
            <a:ext cx="266700" cy="295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2349698"/>
            <a:ext cx="5559552" cy="32004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Karakteristik Utama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1500" y="3045023"/>
            <a:ext cx="2743200" cy="1935361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19150" y="3292673"/>
            <a:ext cx="229514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Tingkat Tinggi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9150" y="3636466"/>
            <a:ext cx="2249424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Lebih mudah dibaca dan ditulis oleh manusia dibandingkan dengan bahasa mesin.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543300" y="3045023"/>
            <a:ext cx="2743200" cy="1935361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790950" y="3292673"/>
            <a:ext cx="229514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Serbaguna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90950" y="3636466"/>
            <a:ext cx="2249424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Dapat diandalkan untuk menyelesaikan berbagai macam tugas pemrograman.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71500" y="5208984"/>
            <a:ext cx="2743200" cy="1935361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19150" y="5456634"/>
            <a:ext cx="229514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Mudah Dipelajari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9150" y="5800427"/>
            <a:ext cx="2249424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Memiliki sintaks yang sederhana dan intuitif, bahkan bagi pemula sekalipun.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543300" y="5208984"/>
            <a:ext cx="2743200" cy="1935361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790950" y="5456634"/>
            <a:ext cx="229514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Penggunaan Luas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790950" y="5800427"/>
            <a:ext cx="2249424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Sangat populer dan diadopsi dalam berbagai bidang serta industri global.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77300" y="368796"/>
            <a:ext cx="2743200" cy="38100"/>
          </a:xfrm>
          <a:prstGeom prst="roundRect">
            <a:avLst>
              <a:gd name="adj" fmla="val 100000"/>
            </a:avLst>
          </a:prstGeom>
          <a:noFill/>
          <a:ln w="19050">
            <a:solidFill>
              <a:srgbClr val="0057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0" y="797421"/>
            <a:ext cx="266700" cy="2952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24700" y="787896"/>
            <a:ext cx="4590288" cy="32004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Keuntungan Python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6858000" y="1330821"/>
            <a:ext cx="4762500" cy="1146721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019925" y="1492746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86600" y="1549896"/>
            <a:ext cx="171450" cy="1905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77125" y="1494606"/>
            <a:ext cx="398678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Sintaks Python mudah dipahami, sangat ideal bagi mereka yang baru mulai belajar pemrograman.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858000" y="2668042"/>
            <a:ext cx="4762500" cy="1146721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7019925" y="2829967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3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86600" y="2887117"/>
            <a:ext cx="171450" cy="1905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77125" y="2831827"/>
            <a:ext cx="398678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Kode dapat dijalankan secara langsung di berbagai platform utama (Windows, Mac, dan Linux).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6858000" y="4005262"/>
            <a:ext cx="4762500" cy="1146721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7019925" y="416718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86600" y="4224338"/>
            <a:ext cx="171450" cy="1905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77125" y="4169048"/>
            <a:ext cx="398678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Tersedia secara gratis, serta dapat diubah dan didistribusikan oleh siapa saja (Open Source).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6858000" y="5342483"/>
            <a:ext cx="4762500" cy="1146721"/>
          </a:xfrm>
          <a:prstGeom prst="roundRect">
            <a:avLst>
              <a:gd name="adj" fmla="val 664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7019925" y="5504408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5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86600" y="5561558"/>
            <a:ext cx="171450" cy="1905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477125" y="5506269"/>
            <a:ext cx="3986784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Didukung oleh komunitas besar dan aktif yang siap membantu proses pembelajaran dan masalah kode.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8093"/>
            <a:ext cx="475488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Understanding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1630561"/>
            <a:ext cx="4855464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09600" y="2325886"/>
            <a:ext cx="0" cy="1790700"/>
          </a:xfrm>
          <a:prstGeom prst="line">
            <a:avLst/>
          </a:prstGeom>
          <a:noFill/>
          <a:ln w="57150">
            <a:solidFill>
              <a:srgbClr val="FFBF00"/>
            </a:solidFill>
            <a:prstDash val="solid"/>
          </a:ln>
        </p:spPr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5350" y="2487811"/>
            <a:ext cx="190500" cy="2095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5850" y="2478286"/>
            <a:ext cx="4133088" cy="22860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Catatan Persiapan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5350" y="2821186"/>
            <a:ext cx="4242816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Sebelum dan sesudah memulai pengerjaan, berdo'a dulu ya guys!!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5350" y="3449836"/>
            <a:ext cx="4242816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Save a copy in Drive anda sebelum memulai workspace baru.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9600" y="4345186"/>
            <a:ext cx="0" cy="1162050"/>
          </a:xfrm>
          <a:prstGeom prst="line">
            <a:avLst/>
          </a:prstGeom>
          <a:noFill/>
          <a:ln w="57150">
            <a:solidFill>
              <a:srgbClr val="0288D1"/>
            </a:solidFill>
            <a:prstDash val="solid"/>
          </a:ln>
        </p:spPr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350" y="4507111"/>
            <a:ext cx="190500" cy="2095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5850" y="4497586"/>
            <a:ext cx="4133088" cy="22860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Tips Kode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95350" y="4840486"/>
            <a:ext cx="4242816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Membuat dan menampilkan komentar di code kamu menggunakan tanda pagar (#).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09600" y="5964436"/>
            <a:ext cx="2743200" cy="1828800"/>
          </a:xfrm>
          <a:prstGeom prst="roundRect">
            <a:avLst>
              <a:gd name="adj" fmla="val 4167"/>
            </a:avLst>
          </a:prstGeom>
          <a:noFill/>
          <a:ln w="19050">
            <a:solidFill>
              <a:srgbClr val="FFBF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 t="352" b="352"/>
          <a:stretch/>
        </p:blipFill>
        <p:spPr>
          <a:xfrm>
            <a:off x="114300" y="5507236"/>
            <a:ext cx="2705100" cy="17907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19775" y="457200"/>
            <a:ext cx="5762625" cy="5143500"/>
          </a:xfrm>
          <a:prstGeom prst="roundRect">
            <a:avLst>
              <a:gd name="adj" fmla="val 2963"/>
            </a:avLst>
          </a:prstGeom>
          <a:noFill/>
          <a:ln w="19050">
            <a:solidFill>
              <a:srgbClr val="0057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6067425" y="1057275"/>
            <a:ext cx="5267325" cy="0"/>
          </a:xfrm>
          <a:prstGeom prst="line">
            <a:avLst/>
          </a:prstGeom>
          <a:noFill/>
          <a:ln w="19050">
            <a:solidFill>
              <a:srgbClr val="0288D1"/>
            </a:solidFill>
            <a:prstDash val="solid"/>
          </a:ln>
        </p:spPr>
      </p:sp>
      <p:pic>
        <p:nvPicPr>
          <p:cNvPr id="1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67425" y="714375"/>
            <a:ext cx="190500" cy="2095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7925" y="704850"/>
            <a:ext cx="3191256" cy="22860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Data di Google Colab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067425" y="1219200"/>
            <a:ext cx="52760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Instalasi library: pandas, numpy, matplotlib, scikit-learn, dan tensorflow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67425" y="1905000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067425" y="1902619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!pip install pandas</a:t>
            </a:r>
            <a:endParaRPr lang="en-US" sz="1125" dirty="0"/>
          </a:p>
        </p:txBody>
      </p:sp>
      <p:sp>
        <p:nvSpPr>
          <p:cNvPr id="23" name="Text 17"/>
          <p:cNvSpPr/>
          <p:nvPr/>
        </p:nvSpPr>
        <p:spPr>
          <a:xfrm>
            <a:off x="6067425" y="2176463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6067425" y="2174081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!pip install numpy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6067425" y="2447925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067425" y="2445544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!pip install matplotlib</a:t>
            </a:r>
            <a:endParaRPr lang="en-US" sz="1125" dirty="0"/>
          </a:p>
        </p:txBody>
      </p:sp>
      <p:sp>
        <p:nvSpPr>
          <p:cNvPr id="27" name="Text 21"/>
          <p:cNvSpPr/>
          <p:nvPr/>
        </p:nvSpPr>
        <p:spPr>
          <a:xfrm>
            <a:off x="6067425" y="2719388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067425" y="2717006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!pip install seaborn</a:t>
            </a:r>
            <a:endParaRPr lang="en-US" sz="1125" dirty="0"/>
          </a:p>
        </p:txBody>
      </p:sp>
      <p:sp>
        <p:nvSpPr>
          <p:cNvPr id="29" name="Text 23"/>
          <p:cNvSpPr/>
          <p:nvPr/>
        </p:nvSpPr>
        <p:spPr>
          <a:xfrm>
            <a:off x="6067425" y="2990850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067425" y="2988469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i="1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!pip install openpyxl</a:t>
            </a:r>
            <a:endParaRPr lang="en-US" sz="1125" dirty="0"/>
          </a:p>
        </p:txBody>
      </p:sp>
      <p:sp>
        <p:nvSpPr>
          <p:cNvPr id="31" name="Text 25"/>
          <p:cNvSpPr/>
          <p:nvPr/>
        </p:nvSpPr>
        <p:spPr>
          <a:xfrm>
            <a:off x="6067425" y="3262313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067425" y="3259931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i="1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!pip install scikit-learn</a:t>
            </a:r>
            <a:endParaRPr lang="en-US" sz="1125" dirty="0"/>
          </a:p>
        </p:txBody>
      </p:sp>
      <p:sp>
        <p:nvSpPr>
          <p:cNvPr id="33" name="Text 27"/>
          <p:cNvSpPr/>
          <p:nvPr/>
        </p:nvSpPr>
        <p:spPr>
          <a:xfrm>
            <a:off x="6067425" y="3533775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6067425" y="3531394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i="1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!pip install tensorflow</a:t>
            </a:r>
            <a:endParaRPr lang="en-US" sz="1125" dirty="0"/>
          </a:p>
        </p:txBody>
      </p:sp>
      <p:sp>
        <p:nvSpPr>
          <p:cNvPr id="35" name="Text 29"/>
          <p:cNvSpPr/>
          <p:nvPr/>
        </p:nvSpPr>
        <p:spPr>
          <a:xfrm>
            <a:off x="6067425" y="4052888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6067425" y="4050506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pandas as pd</a:t>
            </a:r>
            <a:endParaRPr lang="en-US" sz="1125" dirty="0"/>
          </a:p>
        </p:txBody>
      </p:sp>
      <p:sp>
        <p:nvSpPr>
          <p:cNvPr id="37" name="Text 31"/>
          <p:cNvSpPr/>
          <p:nvPr/>
        </p:nvSpPr>
        <p:spPr>
          <a:xfrm>
            <a:off x="6067425" y="4324350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6067425" y="4321969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numpy as np</a:t>
            </a:r>
            <a:endParaRPr lang="en-US" sz="1125" dirty="0"/>
          </a:p>
        </p:txBody>
      </p:sp>
      <p:sp>
        <p:nvSpPr>
          <p:cNvPr id="39" name="Text 33"/>
          <p:cNvSpPr/>
          <p:nvPr/>
        </p:nvSpPr>
        <p:spPr>
          <a:xfrm>
            <a:off x="6067425" y="4595813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6067425" y="4593431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matplotlib.pyplot as plt</a:t>
            </a:r>
            <a:endParaRPr lang="en-US" sz="1125" dirty="0"/>
          </a:p>
        </p:txBody>
      </p:sp>
      <p:sp>
        <p:nvSpPr>
          <p:cNvPr id="41" name="Text 35"/>
          <p:cNvSpPr/>
          <p:nvPr/>
        </p:nvSpPr>
        <p:spPr>
          <a:xfrm>
            <a:off x="6067425" y="4867275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6067425" y="4864894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seaborn as sns</a:t>
            </a:r>
            <a:endParaRPr lang="en-US" sz="1125" dirty="0"/>
          </a:p>
        </p:txBody>
      </p:sp>
      <p:sp>
        <p:nvSpPr>
          <p:cNvPr id="43" name="Text 37"/>
          <p:cNvSpPr/>
          <p:nvPr/>
        </p:nvSpPr>
        <p:spPr>
          <a:xfrm>
            <a:off x="6067425" y="5138738"/>
            <a:ext cx="5267325" cy="214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067425" y="5136356"/>
            <a:ext cx="537667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from pandas.tseries.offsets import BDay</a:t>
            </a:r>
            <a:endParaRPr lang="en-US" sz="1125" dirty="0"/>
          </a:p>
        </p:txBody>
      </p:sp>
      <p:sp>
        <p:nvSpPr>
          <p:cNvPr id="45" name="Text 39"/>
          <p:cNvSpPr/>
          <p:nvPr/>
        </p:nvSpPr>
        <p:spPr>
          <a:xfrm>
            <a:off x="5819775" y="5829300"/>
            <a:ext cx="1819275" cy="1209675"/>
          </a:xfrm>
          <a:prstGeom prst="roundRect">
            <a:avLst>
              <a:gd name="adj" fmla="val 6299"/>
            </a:avLst>
          </a:prstGeom>
          <a:noFill/>
          <a:ln w="19050">
            <a:solidFill>
              <a:srgbClr val="FFBF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4" descr="image.png"/>
          <p:cNvPicPr>
            <a:picLocks noChangeAspect="1"/>
          </p:cNvPicPr>
          <p:nvPr/>
        </p:nvPicPr>
        <p:blipFill>
          <a:blip r:embed="rId7"/>
          <a:srcRect t="668" b="668"/>
          <a:stretch/>
        </p:blipFill>
        <p:spPr>
          <a:xfrm>
            <a:off x="5838825" y="5848350"/>
            <a:ext cx="1781175" cy="1171575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791450" y="5829300"/>
            <a:ext cx="1819275" cy="1209675"/>
          </a:xfrm>
          <a:prstGeom prst="roundRect">
            <a:avLst>
              <a:gd name="adj" fmla="val 6299"/>
            </a:avLst>
          </a:prstGeom>
          <a:noFill/>
          <a:ln w="19050">
            <a:solidFill>
              <a:srgbClr val="FFBF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5" descr="image.png"/>
          <p:cNvPicPr>
            <a:picLocks noChangeAspect="1"/>
          </p:cNvPicPr>
          <p:nvPr/>
        </p:nvPicPr>
        <p:blipFill>
          <a:blip r:embed="rId7"/>
          <a:srcRect t="668" b="668"/>
          <a:stretch/>
        </p:blipFill>
        <p:spPr>
          <a:xfrm>
            <a:off x="7810500" y="5848350"/>
            <a:ext cx="1781175" cy="1171575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763125" y="5829300"/>
            <a:ext cx="1819275" cy="1209675"/>
          </a:xfrm>
          <a:prstGeom prst="roundRect">
            <a:avLst>
              <a:gd name="adj" fmla="val 6299"/>
            </a:avLst>
          </a:prstGeom>
          <a:noFill/>
          <a:ln w="19050">
            <a:solidFill>
              <a:srgbClr val="FFBF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6" descr="image.png"/>
          <p:cNvPicPr>
            <a:picLocks noChangeAspect="1"/>
          </p:cNvPicPr>
          <p:nvPr/>
        </p:nvPicPr>
        <p:blipFill>
          <a:blip r:embed="rId7"/>
          <a:srcRect t="668" b="668"/>
          <a:stretch/>
        </p:blipFill>
        <p:spPr>
          <a:xfrm>
            <a:off x="9782175" y="5848350"/>
            <a:ext cx="178117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857375"/>
            <a:ext cx="5074920" cy="5577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for Google Colab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71500" y="2560290"/>
            <a:ext cx="762000" cy="76200"/>
          </a:xfrm>
          <a:prstGeom prst="roundRect">
            <a:avLst>
              <a:gd name="adj" fmla="val 10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3017490"/>
            <a:ext cx="4972050" cy="198120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71500" y="3017490"/>
            <a:ext cx="0" cy="1981200"/>
          </a:xfrm>
          <a:prstGeom prst="line">
            <a:avLst/>
          </a:prstGeom>
          <a:noFill/>
          <a:ln w="76200">
            <a:solidFill>
              <a:srgbClr val="0057B8"/>
            </a:solidFill>
            <a:prstDash val="solid"/>
          </a:ln>
        </p:spPr>
      </p:sp>
      <p:pic>
        <p:nvPicPr>
          <p:cNvPr id="7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3327053"/>
            <a:ext cx="266700" cy="2952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9200" y="3322290"/>
            <a:ext cx="4105656" cy="310896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52500" y="3779490"/>
            <a:ext cx="428853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yang digunakan adalah data yang berasal dari Tokopedia (bukan data sesungguhnya). Mengenai penjelasan dataset adalah sebagai berikut: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96000" y="647700"/>
            <a:ext cx="5524500" cy="3619500"/>
          </a:xfrm>
          <a:prstGeom prst="roundRect">
            <a:avLst>
              <a:gd name="adj" fmla="val 4211"/>
            </a:avLst>
          </a:prstGeom>
          <a:solidFill>
            <a:srgbClr val="F0F0F0"/>
          </a:solidFill>
          <a:ln/>
          <a:effectLst>
            <a:outerShdw blurRad="228600" dist="76200" dir="5400000" algn="bl" rotWithShape="0">
              <a:srgbClr val="E0E0E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 l="7072" r="7072"/>
          <a:stretch/>
        </p:blipFill>
        <p:spPr>
          <a:xfrm>
            <a:off x="6096000" y="647700"/>
            <a:ext cx="5524500" cy="3619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96000" y="4495800"/>
            <a:ext cx="2647950" cy="1714500"/>
          </a:xfrm>
          <a:prstGeom prst="roundRect">
            <a:avLst>
              <a:gd name="adj" fmla="val 8889"/>
            </a:avLst>
          </a:prstGeom>
          <a:solidFill>
            <a:srgbClr val="F0F0F0"/>
          </a:solidFill>
          <a:ln/>
          <a:effectLst>
            <a:outerShdw blurRad="228600" dist="76200" dir="5400000" algn="bl" rotWithShape="0">
              <a:srgbClr val="E0E0E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/>
          <a:srcRect t="1439" b="1439"/>
          <a:stretch/>
        </p:blipFill>
        <p:spPr>
          <a:xfrm>
            <a:off x="6096000" y="4495800"/>
            <a:ext cx="2647950" cy="1714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72550" y="4495800"/>
            <a:ext cx="2647950" cy="1714500"/>
          </a:xfrm>
          <a:prstGeom prst="roundRect">
            <a:avLst>
              <a:gd name="adj" fmla="val 8889"/>
            </a:avLst>
          </a:prstGeom>
          <a:solidFill>
            <a:srgbClr val="F0F0F0"/>
          </a:solidFill>
          <a:ln/>
          <a:effectLst>
            <a:outerShdw blurRad="228600" dist="76200" dir="5400000" algn="bl" rotWithShape="0">
              <a:srgbClr val="E0E0E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image.png"/>
          <p:cNvPicPr>
            <a:picLocks noChangeAspect="1"/>
          </p:cNvPicPr>
          <p:nvPr/>
        </p:nvPicPr>
        <p:blipFill>
          <a:blip r:embed="rId6"/>
          <a:srcRect t="1439" b="1439"/>
          <a:stretch/>
        </p:blipFill>
        <p:spPr>
          <a:xfrm>
            <a:off x="8972550" y="4495800"/>
            <a:ext cx="264795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9067800" y="285750"/>
            <a:ext cx="2743200" cy="18288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>
            <a:alphaModFix amt="15000"/>
          </a:blip>
          <a:srcRect l="138" r="138"/>
          <a:stretch/>
        </p:blipFill>
        <p:spPr>
          <a:xfrm>
            <a:off x="-190500" y="5419725"/>
            <a:ext cx="1724025" cy="11525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2000" y="911572"/>
            <a:ext cx="1814810" cy="304800"/>
          </a:xfrm>
          <a:prstGeom prst="roundRect">
            <a:avLst>
              <a:gd name="adj" fmla="val 25000"/>
            </a:avLst>
          </a:prstGeom>
          <a:solidFill>
            <a:srgbClr val="0288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59768" y="911572"/>
            <a:ext cx="1819656" cy="310896"/>
          </a:xfrm>
          <a:prstGeom prst="rect">
            <a:avLst/>
          </a:prstGeom>
          <a:noFill/>
          <a:ln/>
        </p:spPr>
        <p:txBody>
          <a:bodyPr vert="horz" wrap="square" lIns="152400" tIns="76200" rIns="152400" bIns="7620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EKSPLORASI DATA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61107" y="1445865"/>
            <a:ext cx="4599432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61107" y="2694533"/>
            <a:ext cx="469087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Mengimpor &amp; Membaca File CSV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61107" y="3267894"/>
            <a:ext cx="4599432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Pelajari cara mengonfigurasi jalur URL sumber dan mengimpor set data terperinci ke dalam DataFrame Pandas secara langsung dari repositori GitHub.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62000" y="4393704"/>
            <a:ext cx="4589264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762000" y="4398466"/>
            <a:ext cx="4589264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351264" y="4393704"/>
            <a:ext cx="0" cy="1552575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2000" y="5941516"/>
            <a:ext cx="4589264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2000" y="4393704"/>
            <a:ext cx="0" cy="1552575"/>
          </a:xfrm>
          <a:prstGeom prst="line">
            <a:avLst/>
          </a:prstGeom>
          <a:noFill/>
          <a:ln w="57150">
            <a:solidFill>
              <a:srgbClr val="FFBF00"/>
            </a:solidFill>
            <a:prstDash val="solid"/>
          </a:ln>
        </p:spPr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47750" y="4636591"/>
            <a:ext cx="171450" cy="190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19200" y="4631829"/>
            <a:ext cx="3977640" cy="201168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Komponen Data Source</a:t>
            </a:r>
            <a:endParaRPr lang="en-US" sz="1350" dirty="0"/>
          </a:p>
        </p:txBody>
      </p:sp>
      <p:pic>
        <p:nvPicPr>
          <p:cNvPr id="1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" y="4993779"/>
            <a:ext cx="152400" cy="1619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0150" y="4984254"/>
            <a:ext cx="3995928" cy="18288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Detail (Pesanan)</a:t>
            </a:r>
            <a:endParaRPr lang="en-US" sz="1200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" y="5174754"/>
            <a:ext cx="152400" cy="1619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00150" y="5165229"/>
            <a:ext cx="3995928" cy="18288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Detail (Pembayaran)</a:t>
            </a:r>
            <a:endParaRPr lang="en-US" sz="1200" dirty="0"/>
          </a:p>
        </p:txBody>
      </p:sp>
      <p:pic>
        <p:nvPicPr>
          <p:cNvPr id="21" name="Image 5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" y="5355729"/>
            <a:ext cx="152400" cy="1619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00150" y="5346204"/>
            <a:ext cx="3995928" cy="18288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Detail (Pelanggan)</a:t>
            </a:r>
            <a:endParaRPr lang="en-US" sz="1200" dirty="0"/>
          </a:p>
        </p:txBody>
      </p:sp>
      <p:pic>
        <p:nvPicPr>
          <p:cNvPr id="23" name="Image 6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" y="5536704"/>
            <a:ext cx="152400" cy="1619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00150" y="5527179"/>
            <a:ext cx="3995928" cy="18288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 Detail (Produk)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5922764" y="514648"/>
            <a:ext cx="5507236" cy="2601962"/>
          </a:xfrm>
          <a:prstGeom prst="roundRect">
            <a:avLst>
              <a:gd name="adj" fmla="val 5857"/>
            </a:avLst>
          </a:prstGeom>
          <a:solidFill>
            <a:srgbClr val="212121"/>
          </a:solidFill>
          <a:ln/>
          <a:effectLst>
            <a:outerShdw blurRad="228600" dist="762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7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51364" y="743248"/>
            <a:ext cx="190500" cy="2095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417097" y="757535"/>
            <a:ext cx="261518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30" dirty="0">
                <a:solidFill>
                  <a:srgbClr val="FFB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MENETAPKAN JALUR DATA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6152257" y="1106016"/>
            <a:ext cx="5056632" cy="1783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Mendefinisikan URL sumber data mentah (SOURCE DATA)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path_od = </a:t>
            </a:r>
            <a:r>
              <a:rPr lang="en-US" sz="975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"https://raw.githubusercontent.com/dataskillsboost/FinalProjectDA11/main/order_detail.csv"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path_pd = </a:t>
            </a:r>
            <a:r>
              <a:rPr lang="en-US" sz="975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"https://raw.githubusercontent.com/dataskillsboost/FinalProjectDA11/main/payment_detail.csv"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path_cd = </a:t>
            </a:r>
            <a:r>
              <a:rPr lang="en-US" sz="975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"https://raw.githubusercontent.com/dataskillsboost/FinalProjectDA11/main/customer_detail.csv"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path_sd = </a:t>
            </a:r>
            <a:r>
              <a:rPr lang="en-US" sz="975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"https://raw.githubusercontent.com/dataskillsboost/FinalProjectDA11/main/sku_detail.csv"</a:t>
            </a:r>
            <a:endParaRPr lang="en-US" sz="975" dirty="0"/>
          </a:p>
        </p:txBody>
      </p:sp>
      <p:sp>
        <p:nvSpPr>
          <p:cNvPr id="29" name="Text 19"/>
          <p:cNvSpPr/>
          <p:nvPr/>
        </p:nvSpPr>
        <p:spPr>
          <a:xfrm>
            <a:off x="5922764" y="3345210"/>
            <a:ext cx="5507236" cy="2998143"/>
          </a:xfrm>
          <a:prstGeom prst="roundRect">
            <a:avLst>
              <a:gd name="adj" fmla="val 5083"/>
            </a:avLst>
          </a:prstGeom>
          <a:solidFill>
            <a:srgbClr val="212121"/>
          </a:solidFill>
          <a:ln/>
          <a:effectLst>
            <a:outerShdw blurRad="228600" dist="762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8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51364" y="3573810"/>
            <a:ext cx="190500" cy="20955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416725" y="3588097"/>
            <a:ext cx="336499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30" dirty="0">
                <a:solidFill>
                  <a:srgbClr val="FFB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MEMBACA &amp; MEMUAT DATAFRAME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6152257" y="3934644"/>
            <a:ext cx="5056632" cy="2185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Membaca data file csv menggunakan Pandas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df_project_od = pd.</a:t>
            </a:r>
            <a:r>
              <a:rPr lang="en-US" sz="975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read_csv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(path_od)df_project_cd = pd.</a:t>
            </a:r>
            <a:r>
              <a:rPr lang="en-US" sz="975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read_csv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(path_cd)df_project_pd = pd.</a:t>
            </a:r>
            <a:r>
              <a:rPr lang="en-US" sz="975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read_csv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(path_pd)df_project_sd = pd.</a:t>
            </a:r>
            <a:r>
              <a:rPr lang="en-US" sz="975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read_csv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(path_sd)</a:t>
            </a:r>
            <a:r>
              <a:rPr lang="en-US" sz="975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Menampilkan nama DataFrame</a:t>
            </a:r>
            <a:r>
              <a:rPr lang="en-US" sz="975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</a:t>
            </a:r>
            <a:r>
              <a:rPr lang="en-US" sz="975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'df_project_od'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r>
              <a:rPr lang="en-US" sz="975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</a:t>
            </a:r>
            <a:r>
              <a:rPr lang="en-US" sz="975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'df_project_pd'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r>
              <a:rPr lang="en-US" sz="975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</a:t>
            </a:r>
            <a:r>
              <a:rPr lang="en-US" sz="975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'df_project_cd'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r>
              <a:rPr lang="en-US" sz="975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print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</a:t>
            </a:r>
            <a:r>
              <a:rPr lang="en-US" sz="975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'df_project_sd'</a:t>
            </a:r>
            <a:r>
              <a:rPr lang="en-US" sz="975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7334250" y="-628650"/>
            <a:ext cx="2743200" cy="18288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>
            <a:alphaModFix amt="15000"/>
          </a:blip>
          <a:srcRect l="138" r="138"/>
          <a:stretch/>
        </p:blipFill>
        <p:spPr>
          <a:xfrm>
            <a:off x="-415018" y="5762625"/>
            <a:ext cx="1724025" cy="11525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1000" y="3810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182365" y="419100"/>
            <a:ext cx="7187184" cy="5394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381000" y="1219200"/>
            <a:ext cx="5562600" cy="66675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381000" y="1219200"/>
            <a:ext cx="0" cy="666750"/>
          </a:xfrm>
          <a:prstGeom prst="line">
            <a:avLst/>
          </a:prstGeom>
          <a:noFill/>
          <a:ln w="57150">
            <a:solidFill>
              <a:srgbClr val="0288D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8650" y="1352550"/>
            <a:ext cx="523036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Menampilkan 10 baris pertama dataframe (df)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628650" y="1562100"/>
            <a:ext cx="523036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df_project.head(10)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81000" y="2000250"/>
            <a:ext cx="5562600" cy="66675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381000" y="2000250"/>
            <a:ext cx="0" cy="666750"/>
          </a:xfrm>
          <a:prstGeom prst="line">
            <a:avLst/>
          </a:prstGeom>
          <a:noFill/>
          <a:ln w="57150">
            <a:solidFill>
              <a:srgbClr val="0288D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8650" y="2133600"/>
            <a:ext cx="523036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Menampilkan informasi struktur dataframe (df)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628650" y="2343150"/>
            <a:ext cx="523036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df_project.info()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81000" y="2781300"/>
            <a:ext cx="5562600" cy="66675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381000" y="2781300"/>
            <a:ext cx="0" cy="666750"/>
          </a:xfrm>
          <a:prstGeom prst="line">
            <a:avLst/>
          </a:prstGeom>
          <a:noFill/>
          <a:ln w="57150">
            <a:solidFill>
              <a:srgbClr val="0288D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8650" y="2914650"/>
            <a:ext cx="523036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Menampilkan beberapa baris terakhir dataframe (df)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628650" y="3124200"/>
            <a:ext cx="523036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df_project.tail(5)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81000" y="3562350"/>
            <a:ext cx="5562600" cy="66675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381000" y="3562350"/>
            <a:ext cx="0" cy="666750"/>
          </a:xfrm>
          <a:prstGeom prst="line">
            <a:avLst/>
          </a:prstGeom>
          <a:noFill/>
          <a:ln w="57150">
            <a:solidFill>
              <a:srgbClr val="0288D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8650" y="3695700"/>
            <a:ext cx="523036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Menampilkan informasi statistik deskriptif dataframe (df)</a:t>
            </a:r>
            <a:endParaRPr lang="en-US" sz="1125" dirty="0"/>
          </a:p>
        </p:txBody>
      </p:sp>
      <p:sp>
        <p:nvSpPr>
          <p:cNvPr id="22" name="Text 18"/>
          <p:cNvSpPr/>
          <p:nvPr/>
        </p:nvSpPr>
        <p:spPr>
          <a:xfrm>
            <a:off x="628650" y="3905250"/>
            <a:ext cx="523036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df_project.describe()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381000" y="4343400"/>
            <a:ext cx="5562600" cy="66675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381000" y="4343400"/>
            <a:ext cx="0" cy="666750"/>
          </a:xfrm>
          <a:prstGeom prst="line">
            <a:avLst/>
          </a:prstGeom>
          <a:noFill/>
          <a:ln w="57150">
            <a:solidFill>
              <a:srgbClr val="0288D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8650" y="4476750"/>
            <a:ext cx="523036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dataframe (df) berdasarkan nama kolom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628650" y="4686300"/>
            <a:ext cx="523036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df_project.filter('customer_')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381000" y="5124450"/>
            <a:ext cx="5562600" cy="666750"/>
          </a:xfrm>
          <a:prstGeom prst="roundRect">
            <a:avLst>
              <a:gd name="adj" fmla="val 114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381000" y="5124450"/>
            <a:ext cx="0" cy="666750"/>
          </a:xfrm>
          <a:prstGeom prst="line">
            <a:avLst/>
          </a:prstGeom>
          <a:noFill/>
          <a:ln w="57150">
            <a:solidFill>
              <a:srgbClr val="0288D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8650" y="5257800"/>
            <a:ext cx="523036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Mengelompokkan data dalam dataframe (df) berdasarkan kolom</a:t>
            </a:r>
            <a:endParaRPr lang="en-US" sz="1125" dirty="0"/>
          </a:p>
        </p:txBody>
      </p:sp>
      <p:sp>
        <p:nvSpPr>
          <p:cNvPr id="30" name="Text 26"/>
          <p:cNvSpPr/>
          <p:nvPr/>
        </p:nvSpPr>
        <p:spPr>
          <a:xfrm>
            <a:off x="628650" y="5467350"/>
            <a:ext cx="523036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df_project.groupby('customer_id')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6248400" y="1219200"/>
            <a:ext cx="5562600" cy="5257800"/>
          </a:xfrm>
          <a:prstGeom prst="roundRect">
            <a:avLst>
              <a:gd name="adj" fmla="val 2899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553200" y="1524000"/>
            <a:ext cx="505663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Menjalankan SQL di Colab</a:t>
            </a:r>
            <a:endParaRPr lang="en-US" sz="2100" dirty="0"/>
          </a:p>
        </p:txBody>
      </p:sp>
      <p:sp>
        <p:nvSpPr>
          <p:cNvPr id="33" name="Text 29"/>
          <p:cNvSpPr/>
          <p:nvPr/>
        </p:nvSpPr>
        <p:spPr>
          <a:xfrm>
            <a:off x="6553200" y="1914525"/>
            <a:ext cx="4956048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Membuat dan menjalankan database SQLite di lingkungan Python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553200" y="2505075"/>
            <a:ext cx="4953000" cy="3667125"/>
          </a:xfrm>
          <a:prstGeom prst="roundRect">
            <a:avLst>
              <a:gd name="adj" fmla="val 2078"/>
            </a:avLst>
          </a:prstGeom>
          <a:solidFill>
            <a:srgbClr val="003C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781800" y="2733675"/>
            <a:ext cx="459028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from</a:t>
            </a: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sqlite3 </a:t>
            </a:r>
            <a:r>
              <a:rPr lang="en-US" sz="1050" dirty="0">
                <a:solidFill>
                  <a:srgbClr val="FFBF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connect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6781800" y="3048000"/>
            <a:ext cx="459028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conn = connect(':memory:')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781800" y="3362325"/>
            <a:ext cx="4498848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df_project_od.to_sql('order_detail', conn, index=False, if_exists='replace')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781800" y="3876675"/>
            <a:ext cx="4498848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df_project_pd.to_sql('payment_detail', conn, index=False, if_exists='replace')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781800" y="4391025"/>
            <a:ext cx="4498848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df_project_cd.to_sql('sku_detail', conn, index=False, if_exists='replace')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781800" y="4905375"/>
            <a:ext cx="4498848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df_project_sd.to_sql('customer_detail', conn, index=False, if_exists='replace')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26679" y="-578848"/>
            <a:ext cx="2743200" cy="18288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 l="138" r="138"/>
          <a:stretch/>
        </p:blipFill>
        <p:spPr>
          <a:xfrm>
            <a:off x="-276224" y="4714875"/>
            <a:ext cx="1724025" cy="1152525"/>
          </a:xfrm>
          <a:prstGeom prst="rect">
            <a:avLst/>
          </a:prstGeom>
        </p:spPr>
      </p:pic>
      <p:pic>
        <p:nvPicPr>
          <p:cNvPr id="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0373" y="942975"/>
            <a:ext cx="45720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655647" y="923925"/>
            <a:ext cx="7342632" cy="539496"/>
          </a:xfrm>
          <a:prstGeom prst="rect">
            <a:avLst/>
          </a:prstGeom>
          <a:noFill/>
          <a:ln/>
        </p:spPr>
        <p:txBody>
          <a:bodyPr vert="horz" wrap="none" lIns="15240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2195152" y="1609725"/>
            <a:ext cx="78089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Panduan Dasar Eksplorasi Dataframe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1809750" y="2409825"/>
            <a:ext cx="8572500" cy="2305050"/>
          </a:xfrm>
          <a:prstGeom prst="roundRect">
            <a:avLst>
              <a:gd name="adj" fmla="val 6612"/>
            </a:avLst>
          </a:prstGeom>
          <a:solidFill>
            <a:srgbClr val="FAFAFA"/>
          </a:solidFill>
          <a:ln w="19050">
            <a:solidFill>
              <a:srgbClr val="0288D1"/>
            </a:solidFill>
          </a:ln>
          <a:effectLst>
            <a:outerShdw blurRad="304800" dist="152400" dir="5400000" algn="bl" rotWithShape="0">
              <a:srgbClr val="EBEBEB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828800" y="2428875"/>
            <a:ext cx="8534400" cy="552450"/>
          </a:xfrm>
          <a:prstGeom prst="rect">
            <a:avLst/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7400" y="2581275"/>
            <a:ext cx="228600" cy="2476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99779" y="2605088"/>
            <a:ext cx="185623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 Kode Interaktif</a:t>
            </a:r>
            <a:endParaRPr lang="en-US" sz="1350" dirty="0"/>
          </a:p>
        </p:txBody>
      </p:sp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209800" y="3476625"/>
            <a:ext cx="381000" cy="4191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97907" y="3438525"/>
            <a:ext cx="50383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menampilkan 5 baris dataframe (df)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2897907" y="3848100"/>
            <a:ext cx="5038344" cy="3931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df_project.</a:t>
            </a:r>
            <a:r>
              <a:rPr lang="en-US" sz="2700" b="1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head</a:t>
            </a:r>
            <a:r>
              <a:rPr lang="en-US" sz="27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</a:t>
            </a:r>
            <a:r>
              <a:rPr lang="en-US" sz="2700" b="1" dirty="0">
                <a:solidFill>
                  <a:srgbClr val="D8431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</a:t>
            </a:r>
            <a:r>
              <a:rPr lang="en-US" sz="27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2700" dirty="0"/>
          </a:p>
        </p:txBody>
      </p:sp>
      <p:sp>
        <p:nvSpPr>
          <p:cNvPr id="15" name="Text 8"/>
          <p:cNvSpPr/>
          <p:nvPr/>
        </p:nvSpPr>
        <p:spPr>
          <a:xfrm>
            <a:off x="1809750" y="5172075"/>
            <a:ext cx="8572500" cy="76200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9"/>
          <p:cNvSpPr/>
          <p:nvPr/>
        </p:nvSpPr>
        <p:spPr>
          <a:xfrm>
            <a:off x="1809750" y="5172075"/>
            <a:ext cx="0" cy="762000"/>
          </a:xfrm>
          <a:prstGeom prst="line">
            <a:avLst/>
          </a:prstGeom>
          <a:noFill/>
          <a:ln w="57150">
            <a:solidFill>
              <a:srgbClr val="FFBF00"/>
            </a:solidFill>
            <a:prstDash val="solid"/>
          </a:ln>
        </p:spPr>
      </p:sp>
      <p:pic>
        <p:nvPicPr>
          <p:cNvPr id="17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171700" y="5429250"/>
            <a:ext cx="228600" cy="2476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552700" y="5324475"/>
            <a:ext cx="752551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Perintah ini digunakan untuk menampilkan sampel data awal agar struktur tabel dapat dipahami dengan cepat.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18"/>
          <p:cNvSpPr/>
          <p:nvPr/>
        </p:nvSpPr>
        <p:spPr>
          <a:xfrm>
            <a:off x="988695" y="4223330"/>
            <a:ext cx="4648200" cy="342900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334250" y="-628650"/>
            <a:ext cx="2743200" cy="1828800"/>
          </a:xfrm>
          <a:prstGeom prst="rect">
            <a:avLst/>
          </a:prstGeom>
        </p:spPr>
      </p:pic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>
            <a:alphaModFix amt="15000"/>
          </a:blip>
          <a:srcRect l="138" r="138"/>
          <a:stretch/>
        </p:blipFill>
        <p:spPr>
          <a:xfrm>
            <a:off x="-504825" y="4238625"/>
            <a:ext cx="1724025" cy="11525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2000" y="571500"/>
            <a:ext cx="0" cy="914400"/>
          </a:xfrm>
          <a:prstGeom prst="line">
            <a:avLst/>
          </a:prstGeom>
          <a:noFill/>
          <a:ln w="76200">
            <a:solidFill>
              <a:srgbClr val="FFBF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28700" y="571500"/>
            <a:ext cx="10616184" cy="5394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4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Mengubah Tipe Kolom Menjadi Datetime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028700" y="1219200"/>
            <a:ext cx="1061618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Konversi kolom tanggal dari format teks (object) ke format datetime pada pandas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50570" y="1515019"/>
            <a:ext cx="10668000" cy="1866900"/>
          </a:xfrm>
          <a:prstGeom prst="roundRect">
            <a:avLst>
              <a:gd name="adj" fmla="val 4082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88695" y="1745443"/>
            <a:ext cx="228600" cy="2476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4537" y="1778781"/>
            <a:ext cx="235915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70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EKSEKUSI KODE PANDAS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88695" y="2145493"/>
            <a:ext cx="10191750" cy="990600"/>
          </a:xfrm>
          <a:prstGeom prst="roundRect">
            <a:avLst>
              <a:gd name="adj" fmla="val 3846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179195" y="2335993"/>
            <a:ext cx="10012680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df_project[</a:t>
            </a:r>
            <a:r>
              <a:rPr lang="en-US" sz="1500" dirty="0">
                <a:solidFill>
                  <a:srgbClr val="A5D6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'order_date'</a:t>
            </a: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] = pd.</a:t>
            </a:r>
            <a:r>
              <a:rPr lang="en-US" sz="1500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to_datetime</a:t>
            </a: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(df_project[</a:t>
            </a:r>
            <a:r>
              <a:rPr lang="en-US" sz="1500" dirty="0">
                <a:solidFill>
                  <a:srgbClr val="A5D6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'order_date'</a:t>
            </a: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])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89813" y="3476081"/>
            <a:ext cx="5143500" cy="3324769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179195" y="2640793"/>
            <a:ext cx="10012680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df_project[</a:t>
            </a:r>
            <a:r>
              <a:rPr lang="en-US" sz="1500" dirty="0">
                <a:solidFill>
                  <a:srgbClr val="A5D6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'registered_date'</a:t>
            </a: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] = pd.</a:t>
            </a:r>
            <a:r>
              <a:rPr lang="en-US" sz="1500" dirty="0">
                <a:solidFill>
                  <a:srgbClr val="0288D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to_datetime</a:t>
            </a: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(df_project[</a:t>
            </a:r>
            <a:r>
              <a:rPr lang="en-US" sz="1500" dirty="0">
                <a:solidFill>
                  <a:srgbClr val="A5D6A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'registered_date'</a:t>
            </a: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])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009650" y="3917224"/>
            <a:ext cx="4648200" cy="0"/>
          </a:xfrm>
          <a:prstGeom prst="line">
            <a:avLst/>
          </a:prstGeom>
          <a:noFill/>
          <a:ln w="19050">
            <a:solidFill>
              <a:srgbClr val="F5F5F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88695" y="3442117"/>
            <a:ext cx="47457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Sebelum Konversi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1009650" y="3705307"/>
            <a:ext cx="474573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df_project.dtypes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88695" y="3915973"/>
            <a:ext cx="4648200" cy="3429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109472" y="3998294"/>
            <a:ext cx="21945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925318" y="4003070"/>
            <a:ext cx="64008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object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963168" y="4536349"/>
            <a:ext cx="474573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3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1009650" y="4707799"/>
            <a:ext cx="0" cy="342900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62199" y="4783999"/>
            <a:ext cx="10515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order_date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4925318" y="4783999"/>
            <a:ext cx="64008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651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object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963168" y="5164999"/>
            <a:ext cx="474573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3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1009650" y="5507899"/>
            <a:ext cx="4648200" cy="342900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1009650" y="5507899"/>
            <a:ext cx="0" cy="342900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162199" y="5584099"/>
            <a:ext cx="158191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registered_date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4925318" y="5584099"/>
            <a:ext cx="64008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651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object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963168" y="5965099"/>
            <a:ext cx="474573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3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009650" y="6307999"/>
            <a:ext cx="4648200" cy="3429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1124992" y="6384199"/>
            <a:ext cx="9509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month_num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5029126" y="6384199"/>
            <a:ext cx="53035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int64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6268636" y="3429000"/>
            <a:ext cx="5143500" cy="3371850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2"/>
          <p:cNvSpPr/>
          <p:nvPr/>
        </p:nvSpPr>
        <p:spPr>
          <a:xfrm>
            <a:off x="6534150" y="4867275"/>
            <a:ext cx="4648200" cy="0"/>
          </a:xfrm>
          <a:prstGeom prst="line">
            <a:avLst/>
          </a:prstGeom>
          <a:noFill/>
          <a:ln w="19050">
            <a:solidFill>
              <a:srgbClr val="F5F5F5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534150" y="3461481"/>
            <a:ext cx="47457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Setelah Konversi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6549648" y="3753857"/>
            <a:ext cx="474573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df_project.dtypes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534150" y="3926736"/>
            <a:ext cx="4648200" cy="3429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646590" y="4002936"/>
            <a:ext cx="21945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</a:t>
            </a:r>
            <a:endParaRPr lang="en-US" sz="1350" dirty="0"/>
          </a:p>
        </p:txBody>
      </p:sp>
      <p:sp>
        <p:nvSpPr>
          <p:cNvPr id="42" name="Text 37"/>
          <p:cNvSpPr/>
          <p:nvPr/>
        </p:nvSpPr>
        <p:spPr>
          <a:xfrm>
            <a:off x="10449818" y="4002936"/>
            <a:ext cx="64008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object</a:t>
            </a:r>
            <a:endParaRPr lang="en-US" sz="1350" dirty="0"/>
          </a:p>
        </p:txBody>
      </p:sp>
      <p:sp>
        <p:nvSpPr>
          <p:cNvPr id="43" name="Text 38"/>
          <p:cNvSpPr/>
          <p:nvPr/>
        </p:nvSpPr>
        <p:spPr>
          <a:xfrm>
            <a:off x="6481234" y="5080826"/>
            <a:ext cx="474573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3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</a:t>
            </a:r>
            <a:endParaRPr lang="en-US" sz="1500" dirty="0"/>
          </a:p>
        </p:txBody>
      </p:sp>
      <p:sp>
        <p:nvSpPr>
          <p:cNvPr id="44" name="Text 39"/>
          <p:cNvSpPr/>
          <p:nvPr/>
        </p:nvSpPr>
        <p:spPr>
          <a:xfrm>
            <a:off x="6534150" y="4634225"/>
            <a:ext cx="4648200" cy="342900"/>
          </a:xfrm>
          <a:prstGeom prst="roundRect">
            <a:avLst>
              <a:gd name="adj" fmla="val 11111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0"/>
          <p:cNvSpPr/>
          <p:nvPr/>
        </p:nvSpPr>
        <p:spPr>
          <a:xfrm>
            <a:off x="6534150" y="4634225"/>
            <a:ext cx="0" cy="342900"/>
          </a:xfrm>
          <a:prstGeom prst="line">
            <a:avLst/>
          </a:prstGeom>
          <a:noFill/>
          <a:ln w="38100">
            <a:solidFill>
              <a:srgbClr val="0288D1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686699" y="4710425"/>
            <a:ext cx="10515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order_date</a:t>
            </a:r>
            <a:endParaRPr lang="en-US" sz="1350" dirty="0"/>
          </a:p>
        </p:txBody>
      </p:sp>
      <p:sp>
        <p:nvSpPr>
          <p:cNvPr id="47" name="Text 42"/>
          <p:cNvSpPr/>
          <p:nvPr/>
        </p:nvSpPr>
        <p:spPr>
          <a:xfrm>
            <a:off x="9628659" y="4710425"/>
            <a:ext cx="147218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datetime64[ns]</a:t>
            </a:r>
            <a:endParaRPr lang="en-US" sz="1350" dirty="0"/>
          </a:p>
        </p:txBody>
      </p:sp>
      <p:sp>
        <p:nvSpPr>
          <p:cNvPr id="48" name="Text 43"/>
          <p:cNvSpPr/>
          <p:nvPr/>
        </p:nvSpPr>
        <p:spPr>
          <a:xfrm>
            <a:off x="6487668" y="6286500"/>
            <a:ext cx="474573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3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</a:t>
            </a:r>
            <a:endParaRPr lang="en-US" sz="1500" dirty="0"/>
          </a:p>
        </p:txBody>
      </p:sp>
      <p:sp>
        <p:nvSpPr>
          <p:cNvPr id="49" name="Text 44"/>
          <p:cNvSpPr/>
          <p:nvPr/>
        </p:nvSpPr>
        <p:spPr>
          <a:xfrm>
            <a:off x="6534150" y="5381625"/>
            <a:ext cx="4648200" cy="342900"/>
          </a:xfrm>
          <a:prstGeom prst="roundRect">
            <a:avLst>
              <a:gd name="adj" fmla="val 11111"/>
            </a:avLst>
          </a:prstGeom>
          <a:solidFill>
            <a:srgbClr val="E1F5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5"/>
          <p:cNvSpPr/>
          <p:nvPr/>
        </p:nvSpPr>
        <p:spPr>
          <a:xfrm>
            <a:off x="6534150" y="5381625"/>
            <a:ext cx="0" cy="342900"/>
          </a:xfrm>
          <a:prstGeom prst="line">
            <a:avLst/>
          </a:prstGeom>
          <a:noFill/>
          <a:ln w="38100">
            <a:solidFill>
              <a:srgbClr val="0288D1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686699" y="5457825"/>
            <a:ext cx="158191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registered_date</a:t>
            </a:r>
            <a:endParaRPr lang="en-US" sz="1350" dirty="0"/>
          </a:p>
        </p:txBody>
      </p:sp>
      <p:sp>
        <p:nvSpPr>
          <p:cNvPr id="52" name="Text 47"/>
          <p:cNvSpPr/>
          <p:nvPr/>
        </p:nvSpPr>
        <p:spPr>
          <a:xfrm>
            <a:off x="9628659" y="5457825"/>
            <a:ext cx="147218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datetime64[ns]</a:t>
            </a:r>
            <a:endParaRPr lang="en-US" sz="1350" dirty="0"/>
          </a:p>
        </p:txBody>
      </p:sp>
      <p:sp>
        <p:nvSpPr>
          <p:cNvPr id="53" name="Text 48"/>
          <p:cNvSpPr/>
          <p:nvPr/>
        </p:nvSpPr>
        <p:spPr>
          <a:xfrm>
            <a:off x="6487668" y="5894683"/>
            <a:ext cx="474573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3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</a:t>
            </a:r>
            <a:endParaRPr lang="en-US" sz="1500" dirty="0"/>
          </a:p>
        </p:txBody>
      </p:sp>
      <p:sp>
        <p:nvSpPr>
          <p:cNvPr id="54" name="Text 49"/>
          <p:cNvSpPr/>
          <p:nvPr/>
        </p:nvSpPr>
        <p:spPr>
          <a:xfrm>
            <a:off x="6534150" y="6278499"/>
            <a:ext cx="4648200" cy="3429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0"/>
          <p:cNvSpPr/>
          <p:nvPr/>
        </p:nvSpPr>
        <p:spPr>
          <a:xfrm>
            <a:off x="6649492" y="6354699"/>
            <a:ext cx="9509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month_num</a:t>
            </a:r>
            <a:endParaRPr lang="en-US" sz="1350" dirty="0"/>
          </a:p>
        </p:txBody>
      </p:sp>
      <p:sp>
        <p:nvSpPr>
          <p:cNvPr id="56" name="Text 51"/>
          <p:cNvSpPr/>
          <p:nvPr/>
        </p:nvSpPr>
        <p:spPr>
          <a:xfrm>
            <a:off x="10553626" y="6354699"/>
            <a:ext cx="53035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int64</a:t>
            </a:r>
            <a:endParaRPr lang="en-US" sz="1350" dirty="0"/>
          </a:p>
        </p:txBody>
      </p:sp>
      <p:sp>
        <p:nvSpPr>
          <p:cNvPr id="57" name="Text 38">
            <a:extLst>
              <a:ext uri="{FF2B5EF4-FFF2-40B4-BE49-F238E27FC236}">
                <a16:creationId xmlns:a16="http://schemas.microsoft.com/office/drawing/2014/main" id="{199DAAE4-2F50-7032-2CF1-861C63CB1878}"/>
              </a:ext>
            </a:extLst>
          </p:cNvPr>
          <p:cNvSpPr/>
          <p:nvPr/>
        </p:nvSpPr>
        <p:spPr>
          <a:xfrm>
            <a:off x="6461768" y="4334188"/>
            <a:ext cx="4745736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3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9067800" y="381000"/>
            <a:ext cx="2743200" cy="1828800"/>
          </a:xfrm>
          <a:prstGeom prst="rect">
            <a:avLst/>
          </a:prstGeom>
        </p:spPr>
      </p:pic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>
            <a:alphaModFix amt="15000"/>
          </a:blip>
          <a:srcRect l="138" r="138"/>
          <a:stretch/>
        </p:blipFill>
        <p:spPr>
          <a:xfrm>
            <a:off x="381000" y="5324475"/>
            <a:ext cx="1724025" cy="1152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571500"/>
            <a:ext cx="10671048" cy="1069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 Kasus 1: Permintaan Tim Marketing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62000" y="1143477"/>
            <a:ext cx="1088136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28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for Google Colab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58952" y="1543878"/>
            <a:ext cx="5143500" cy="506647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8575">
            <a:solidFill>
              <a:srgbClr val="0057B8"/>
            </a:solidFill>
          </a:ln>
          <a:effectLst>
            <a:outerShdw dist="161645" dir="2700000" algn="bl" rotWithShape="0">
              <a:srgbClr val="0288D1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5375" y="1710952"/>
            <a:ext cx="304800" cy="333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00175" y="1696664"/>
            <a:ext cx="4261104" cy="36576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Pesan Masuk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1095375" y="2296769"/>
            <a:ext cx="4572000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Kepada:</a:t>
            </a: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Analyst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95375" y="2638211"/>
            <a:ext cx="448056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Akhir tahun ini, perusahaan akan memberikan hadiah bagi pelanggan yang memenangkan kompetisi Festival Akhir Tahun. Tim Marketing membutuhkan bantuan untuk menentukan perkiraan hadiah tersebut.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95375" y="3864012"/>
            <a:ext cx="4480560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i="1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"Mohon kirimkan data tersebut sebelum akhir bulan ini."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95375" y="4234299"/>
            <a:ext cx="4476750" cy="215964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1095375" y="4222105"/>
            <a:ext cx="0" cy="2159645"/>
          </a:xfrm>
          <a:prstGeom prst="line">
            <a:avLst/>
          </a:prstGeom>
          <a:noFill/>
          <a:ln w="76200">
            <a:solidFill>
              <a:srgbClr val="FFBF0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62075" y="4421796"/>
            <a:ext cx="410565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Kriteria Pengambilan Data: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438275" y="4773254"/>
            <a:ext cx="3990975" cy="142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Kategori:</a:t>
            </a: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Mobiles &amp; Tablets</a:t>
            </a:r>
            <a:endParaRPr lang="en-US" sz="1350" dirty="0"/>
          </a:p>
          <a:p>
            <a:pPr marL="171450" indent="-17145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Waktu Transaksi:</a:t>
            </a: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Selama tahun 2022</a:t>
            </a:r>
            <a:endParaRPr lang="en-US" sz="1350" dirty="0"/>
          </a:p>
          <a:p>
            <a:pPr marL="171450" indent="-17145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Penjualan:</a:t>
            </a: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 = 1</a:t>
            </a:r>
            <a:endParaRPr lang="en-US" sz="1350" dirty="0"/>
          </a:p>
          <a:p>
            <a:pPr marL="171450" indent="-17145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Utama:</a:t>
            </a: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 5 Produk Penjualan Tertinggi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86499" y="1543878"/>
            <a:ext cx="5633357" cy="506647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8575">
            <a:solidFill>
              <a:srgbClr val="FFBF00"/>
            </a:solidFill>
          </a:ln>
          <a:effectLst>
            <a:outerShdw dist="161645" dir="2700000" algn="bl" rotWithShape="0">
              <a:srgbClr val="FFB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30531" y="1717548"/>
            <a:ext cx="304800" cy="3333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63346" y="1678567"/>
            <a:ext cx="4261104" cy="36576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Langkah Solusi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6510583" y="2441816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963346" y="2441816"/>
            <a:ext cx="4572000" cy="320040"/>
          </a:xfrm>
          <a:prstGeom prst="rect">
            <a:avLst/>
          </a:prstGeom>
          <a:noFill/>
          <a:ln/>
        </p:spPr>
        <p:txBody>
          <a:bodyPr vert="horz" wrap="none" lIns="5334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dengan </a:t>
            </a:r>
            <a:r>
              <a:rPr lang="en-US" sz="16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= 1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6512842" y="3058453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963346" y="2874243"/>
            <a:ext cx="4480560" cy="630936"/>
          </a:xfrm>
          <a:prstGeom prst="rect">
            <a:avLst/>
          </a:prstGeom>
          <a:noFill/>
          <a:ln/>
        </p:spPr>
        <p:txBody>
          <a:bodyPr vert="horz" wrap="square" lIns="53340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dengan </a:t>
            </a:r>
            <a:r>
              <a:rPr lang="en-US" sz="16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= Mobiles &amp; Tablets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6530531" y="3658580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973062" y="3548544"/>
            <a:ext cx="4480560" cy="630936"/>
          </a:xfrm>
          <a:prstGeom prst="rect">
            <a:avLst/>
          </a:prstGeom>
          <a:noFill/>
          <a:ln/>
        </p:spPr>
        <p:txBody>
          <a:bodyPr vert="horz" wrap="square" lIns="53340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pada transaksi selama </a:t>
            </a:r>
            <a:r>
              <a:rPr lang="en-US" sz="16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tahun 2022</a:t>
            </a:r>
            <a:endParaRPr lang="en-US" sz="1650" dirty="0"/>
          </a:p>
        </p:txBody>
      </p:sp>
      <p:sp>
        <p:nvSpPr>
          <p:cNvPr id="30" name="Text 24"/>
          <p:cNvSpPr/>
          <p:nvPr/>
        </p:nvSpPr>
        <p:spPr>
          <a:xfrm>
            <a:off x="6529633" y="4241866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973062" y="4155636"/>
            <a:ext cx="4480560" cy="630936"/>
          </a:xfrm>
          <a:prstGeom prst="rect">
            <a:avLst/>
          </a:prstGeom>
          <a:noFill/>
          <a:ln/>
        </p:spPr>
        <p:txBody>
          <a:bodyPr vert="horz" wrap="square" lIns="53340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Gunakan </a:t>
            </a:r>
            <a:r>
              <a:rPr lang="en-US" sz="16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groupby</a:t>
            </a: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berdasarkan atribut </a:t>
            </a:r>
            <a:r>
              <a:rPr lang="en-US" sz="16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sku_name</a:t>
            </a:r>
            <a:endParaRPr lang="en-US" sz="1650" dirty="0"/>
          </a:p>
        </p:txBody>
      </p:sp>
      <p:sp>
        <p:nvSpPr>
          <p:cNvPr id="33" name="Text 27"/>
          <p:cNvSpPr/>
          <p:nvPr/>
        </p:nvSpPr>
        <p:spPr>
          <a:xfrm>
            <a:off x="6529633" y="4898097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6973062" y="4856395"/>
            <a:ext cx="4480560" cy="630936"/>
          </a:xfrm>
          <a:prstGeom prst="rect">
            <a:avLst/>
          </a:prstGeom>
          <a:noFill/>
          <a:ln/>
        </p:spPr>
        <p:txBody>
          <a:bodyPr vert="horz" wrap="square" lIns="53340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Gunakan </a:t>
            </a:r>
            <a:r>
              <a:rPr lang="en-US" sz="16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sort_values</a:t>
            </a: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untuk mengurutkan data</a:t>
            </a:r>
            <a:endParaRPr lang="en-US" sz="1650" dirty="0"/>
          </a:p>
        </p:txBody>
      </p:sp>
      <p:sp>
        <p:nvSpPr>
          <p:cNvPr id="36" name="Text 30"/>
          <p:cNvSpPr/>
          <p:nvPr/>
        </p:nvSpPr>
        <p:spPr>
          <a:xfrm>
            <a:off x="6529633" y="5671444"/>
            <a:ext cx="342900" cy="3429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6973062" y="5590644"/>
            <a:ext cx="4480560" cy="630936"/>
          </a:xfrm>
          <a:prstGeom prst="rect">
            <a:avLst/>
          </a:prstGeom>
          <a:noFill/>
          <a:ln/>
        </p:spPr>
        <p:txBody>
          <a:bodyPr vert="horz" wrap="square" lIns="53340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Gunakan </a:t>
            </a:r>
            <a:r>
              <a:rPr lang="en-US" sz="16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</a:t>
            </a: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untuk menampilkan </a:t>
            </a:r>
            <a:r>
              <a:rPr lang="en-US" sz="16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produk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7905750" y="-57150"/>
            <a:ext cx="2743200" cy="18288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>
            <a:alphaModFix amt="15000"/>
          </a:blip>
          <a:srcRect l="138" r="138"/>
          <a:stretch/>
        </p:blipFill>
        <p:spPr>
          <a:xfrm>
            <a:off x="66675" y="4810125"/>
            <a:ext cx="1724025" cy="115252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500" y="571500"/>
            <a:ext cx="0" cy="838200"/>
          </a:xfrm>
          <a:prstGeom prst="line">
            <a:avLst/>
          </a:prstGeom>
          <a:noFill/>
          <a:ln w="76200">
            <a:solidFill>
              <a:srgbClr val="FFBF00"/>
            </a:solidFill>
            <a:prstDash val="solid"/>
          </a:ln>
        </p:spPr>
      </p:sp>
      <p:pic>
        <p:nvPicPr>
          <p:cNvPr id="6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200" y="590550"/>
            <a:ext cx="45720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95400" y="571500"/>
            <a:ext cx="10533888" cy="539496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8" name="Text 3"/>
          <p:cNvSpPr/>
          <p:nvPr/>
        </p:nvSpPr>
        <p:spPr>
          <a:xfrm>
            <a:off x="838200" y="1181100"/>
            <a:ext cx="1100023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Jawaban No. 1: Analisis Data Penjualan Mobiles &amp; Tablets (2022)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71500" y="1790700"/>
            <a:ext cx="6400800" cy="4810125"/>
          </a:xfrm>
          <a:prstGeom prst="roundRect">
            <a:avLst>
              <a:gd name="adj" fmla="val 1584"/>
            </a:avLst>
          </a:prstGeom>
          <a:solidFill>
            <a:srgbClr val="F5F7FA"/>
          </a:solidFill>
          <a:ln w="9525">
            <a:solidFill>
              <a:srgbClr val="E0E0E0"/>
            </a:solidFill>
          </a:ln>
          <a:effectLst>
            <a:outerShdw dist="53882" dir="2700000" algn="bl" rotWithShape="0">
              <a:srgbClr val="E0E0E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625" y="2033588"/>
            <a:ext cx="171450" cy="190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7647" y="2028825"/>
            <a:ext cx="282549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Langkah 1: Filter DataFrame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809625" y="2381250"/>
            <a:ext cx="5924550" cy="18573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809625" y="2381250"/>
            <a:ext cx="0" cy="1857375"/>
          </a:xfrm>
          <a:prstGeom prst="line">
            <a:avLst/>
          </a:prstGeom>
          <a:noFill/>
          <a:ln w="38100">
            <a:solidFill>
              <a:srgbClr val="0288D1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000125" y="2495550"/>
            <a:ext cx="56967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Menambahkan filter pada data frame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000125" y="2733675"/>
            <a:ext cx="56967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df_filter = df_project[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1228725" y="2971800"/>
            <a:ext cx="54681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(df_project['is_valid'] == 1) &amp;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228725" y="3209925"/>
            <a:ext cx="54681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(df_project.category == "Mobiles &amp; Tablets") &amp;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228725" y="3448050"/>
            <a:ext cx="54681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(df_project.order_date &gt;= "2022-01-01") &amp;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228725" y="3686175"/>
            <a:ext cx="54681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(df_project.order_date &lt;= "2022-12-31")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1000125" y="3924300"/>
            <a:ext cx="56967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pic>
        <p:nvPicPr>
          <p:cNvPr id="21" name="Image 4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625" y="4395788"/>
            <a:ext cx="171450" cy="1905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8168" y="4391025"/>
            <a:ext cx="502005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Langkah 2: Mengelompokkan &amp; Mengurutkan Data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809625" y="4743450"/>
            <a:ext cx="5924550" cy="16192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809625" y="4743450"/>
            <a:ext cx="0" cy="1619250"/>
          </a:xfrm>
          <a:prstGeom prst="line">
            <a:avLst/>
          </a:prstGeom>
          <a:noFill/>
          <a:ln w="38100">
            <a:solidFill>
              <a:srgbClr val="0288D1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000125" y="4857750"/>
            <a:ext cx="56967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Mengelompokkan dataframe sku_name &amp; qty_ordered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000125" y="5095875"/>
            <a:ext cx="56967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pd.DataFrame(df_filter.groupby('sku_name')['qty_ordered'].sum()) \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228725" y="5334000"/>
            <a:ext cx="54681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.reset_index() \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228725" y="5572125"/>
            <a:ext cx="54681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.sort_values('qty_ordered', ascending=False) \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228725" y="5810250"/>
            <a:ext cx="54681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.reset_index(drop=True) \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228725" y="6048375"/>
            <a:ext cx="54681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.head()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7353300" y="1790700"/>
            <a:ext cx="42672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dist="53882" dir="2700000" algn="bl" rotWithShape="0">
              <a:srgbClr val="E0E0E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7362825" y="1800225"/>
            <a:ext cx="4248150" cy="504825"/>
          </a:xfrm>
          <a:prstGeom prst="rect">
            <a:avLst/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53325" y="1957388"/>
            <a:ext cx="171450" cy="1905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724775" y="1952625"/>
            <a:ext cx="3776472" cy="201168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5 Teratas</a:t>
            </a:r>
            <a:endParaRPr lang="en-US" sz="1350" dirty="0"/>
          </a:p>
        </p:txBody>
      </p:sp>
      <p:pic>
        <p:nvPicPr>
          <p:cNvPr id="35" name="Image 6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62825" y="2305050"/>
            <a:ext cx="4248150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750" y="-628650"/>
            <a:ext cx="2743200" cy="1828800"/>
          </a:xfrm>
          <a:prstGeom prst="roundRect">
            <a:avLst>
              <a:gd name="adj" fmla="val 8333"/>
            </a:avLst>
          </a:prstGeom>
          <a:noFill/>
          <a:ln w="38100">
            <a:solidFill>
              <a:srgbClr val="FFBF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 t="714" b="714"/>
          <a:stretch/>
        </p:blipFill>
        <p:spPr>
          <a:xfrm>
            <a:off x="9086850" y="-590550"/>
            <a:ext cx="2667000" cy="1752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5514975"/>
            <a:ext cx="1724025" cy="1152525"/>
          </a:xfrm>
          <a:prstGeom prst="roundRect">
            <a:avLst>
              <a:gd name="adj" fmla="val 13223"/>
            </a:avLst>
          </a:prstGeom>
          <a:noFill/>
          <a:ln w="3810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 t="1012" b="1012"/>
          <a:stretch/>
        </p:blipFill>
        <p:spPr>
          <a:xfrm>
            <a:off x="419100" y="5553075"/>
            <a:ext cx="1647825" cy="10763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762000" y="1438275"/>
            <a:ext cx="10668000" cy="0"/>
          </a:xfrm>
          <a:prstGeom prst="line">
            <a:avLst/>
          </a:prstGeom>
          <a:noFill/>
          <a:ln w="19050">
            <a:solidFill>
              <a:srgbClr val="0057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2000" y="571500"/>
            <a:ext cx="10881360" cy="3657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2400" dirty="0"/>
          </a:p>
        </p:txBody>
      </p:sp>
      <p:pic>
        <p:nvPicPr>
          <p:cNvPr id="9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2000" y="1057275"/>
            <a:ext cx="190500" cy="2095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500" y="1047750"/>
            <a:ext cx="10689336" cy="22860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Analisis Data &amp; Agregasi Pandas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62000" y="1905000"/>
            <a:ext cx="4472583" cy="2783086"/>
          </a:xfrm>
          <a:prstGeom prst="roundRect">
            <a:avLst>
              <a:gd name="adj" fmla="val 2738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762000" y="1905000"/>
            <a:ext cx="0" cy="2783086"/>
          </a:xfrm>
          <a:prstGeom prst="line">
            <a:avLst/>
          </a:prstGeom>
          <a:noFill/>
          <a:ln w="57150">
            <a:solidFill>
              <a:srgbClr val="FFBF00"/>
            </a:solidFill>
            <a:prstDash val="solid"/>
          </a:ln>
        </p:spPr>
      </p:sp>
      <p:pic>
        <p:nvPicPr>
          <p:cNvPr id="13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7750" y="2133600"/>
            <a:ext cx="142875" cy="1333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90625" y="2133600"/>
            <a:ext cx="389534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70" dirty="0">
                <a:solidFill>
                  <a:srgbClr val="028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 KODE INPUT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045666" y="2486025"/>
            <a:ext cx="396849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Menelompokkan dan menjumlahkan qty_ordered dan customer_id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045666" y="3132758"/>
            <a:ext cx="404164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df_filter.groupby('sku_name') \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045666" y="3520380"/>
            <a:ext cx="3968496" cy="557784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.agg({"qty_ordered":"sum", "customer_id":"nunique"}) \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045666" y="4184228"/>
            <a:ext cx="4041648" cy="28346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.head()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617666" y="1905000"/>
            <a:ext cx="593445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 [ ] :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615583" y="2228850"/>
            <a:ext cx="5814417" cy="3000077"/>
          </a:xfrm>
          <a:prstGeom prst="roundRect">
            <a:avLst>
              <a:gd name="adj" fmla="val 2540"/>
            </a:avLst>
          </a:prstGeom>
          <a:noFill/>
          <a:ln w="9525">
            <a:solidFill>
              <a:srgbClr val="75757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5625108" y="2238375"/>
            <a:ext cx="5795367" cy="485775"/>
          </a:xfrm>
          <a:prstGeom prst="rect">
            <a:avLst/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779666" y="2390775"/>
            <a:ext cx="293522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sku_name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810699" y="2390775"/>
            <a:ext cx="117957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qty_ordered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115550" y="2390775"/>
            <a:ext cx="117957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customer_id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625108" y="2724150"/>
            <a:ext cx="5795367" cy="50095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5625108" y="3220343"/>
            <a:ext cx="5795367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779666" y="2874615"/>
            <a:ext cx="29352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iPhone 6S Plus 16GB Silver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810699" y="2874615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115550" y="2874615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625108" y="3225105"/>
            <a:ext cx="5795367" cy="50095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5"/>
          <p:cNvSpPr/>
          <p:nvPr/>
        </p:nvSpPr>
        <p:spPr>
          <a:xfrm>
            <a:off x="5625108" y="3721298"/>
            <a:ext cx="5795367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779666" y="3375571"/>
            <a:ext cx="29352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IDROID_BALRX7-Gold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810699" y="3375571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1000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0115550" y="3375571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625108" y="3726061"/>
            <a:ext cx="5795367" cy="50095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0"/>
          <p:cNvSpPr/>
          <p:nvPr/>
        </p:nvSpPr>
        <p:spPr>
          <a:xfrm>
            <a:off x="5625108" y="4222254"/>
            <a:ext cx="5795367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779666" y="3876526"/>
            <a:ext cx="29352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IDROID_BALRX7-Jet black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8810699" y="3876526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31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0115550" y="3876526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625108" y="4227016"/>
            <a:ext cx="5795367" cy="50095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5"/>
          <p:cNvSpPr/>
          <p:nvPr/>
        </p:nvSpPr>
        <p:spPr>
          <a:xfrm>
            <a:off x="5625108" y="4723209"/>
            <a:ext cx="5795367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779666" y="4377482"/>
            <a:ext cx="29352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Infinix Hot 4-Gold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8810699" y="4377482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15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10115550" y="4377482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5625108" y="4727972"/>
            <a:ext cx="5795367" cy="49143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5779666" y="4878437"/>
            <a:ext cx="29352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MotoZPlay -Black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8810699" y="4878437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10115550" y="4878437"/>
            <a:ext cx="11795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7334250" y="-628650"/>
            <a:ext cx="2743200" cy="1828800"/>
          </a:xfrm>
          <a:prstGeom prst="rect">
            <a:avLst/>
          </a:prstGeom>
        </p:spPr>
      </p:pic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138" r="138"/>
          <a:stretch/>
        </p:blipFill>
        <p:spPr>
          <a:xfrm>
            <a:off x="-504825" y="4238625"/>
            <a:ext cx="1724025" cy="11525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600" y="1287917"/>
            <a:ext cx="5773043" cy="0"/>
          </a:xfrm>
          <a:prstGeom prst="line">
            <a:avLst/>
          </a:prstGeom>
          <a:noFill/>
          <a:ln w="28575">
            <a:solidFill>
              <a:srgbClr val="0057B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11609" y="457200"/>
            <a:ext cx="6409944" cy="5394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for Google Colab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11609" y="936176"/>
            <a:ext cx="6409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28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 Kasus 2: Analisis Kinerja Penjualan Kategori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09600" y="1366266"/>
            <a:ext cx="5773043" cy="5301233"/>
          </a:xfrm>
          <a:prstGeom prst="roundRect">
            <a:avLst>
              <a:gd name="adj" fmla="val 2640"/>
            </a:avLst>
          </a:prstGeom>
          <a:solidFill>
            <a:srgbClr val="F9FAFB"/>
          </a:solidFill>
          <a:ln w="9525">
            <a:solidFill>
              <a:srgbClr val="E0E0E0"/>
            </a:solidFill>
          </a:ln>
          <a:effectLst>
            <a:outerShdw blurRad="114300" dist="38100" dir="5400000" algn="bl" rotWithShape="0">
              <a:srgbClr val="000000">
                <a:alpha val="63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3925" y="1485197"/>
            <a:ext cx="228600" cy="2476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2525" y="1475672"/>
            <a:ext cx="5020056" cy="27432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Permintaan Tim Warehouse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923925" y="2890838"/>
            <a:ext cx="5144393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dashDot"/>
          </a:ln>
        </p:spPr>
      </p:sp>
      <p:sp>
        <p:nvSpPr>
          <p:cNvPr id="13" name="Text 8"/>
          <p:cNvSpPr/>
          <p:nvPr/>
        </p:nvSpPr>
        <p:spPr>
          <a:xfrm>
            <a:off x="924371" y="1932872"/>
            <a:ext cx="524865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Kepada: Data Analyst | Dari: Tim Warehouse &amp; Marketing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24371" y="2429065"/>
            <a:ext cx="5148072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Kami menemukan bahwa ketersediaan stok produk dengan </a:t>
            </a:r>
            <a:r>
              <a:rPr lang="en-US" sz="13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Kategori Others</a:t>
            </a: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pada akhir 2022 masih sangat tinggi. Dugaan sementara kami, telah terjadi penurunan kuantitas penjualan pada 2022 dibandingkan 2021.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923925" y="3634718"/>
            <a:ext cx="5144393" cy="1556147"/>
          </a:xfrm>
          <a:prstGeom prst="roundRect">
            <a:avLst>
              <a:gd name="adj" fmla="val 2448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923925" y="3634718"/>
            <a:ext cx="0" cy="1556147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114871" y="3753931"/>
            <a:ext cx="490118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Tugas Analisis: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43025" y="4030156"/>
            <a:ext cx="4620518" cy="97512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152400" indent="-152400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Cek data penjualan kategori 'Others' tahun 2021 vs 2022.</a:t>
            </a:r>
            <a:endParaRPr lang="en-US" sz="1200" dirty="0"/>
          </a:p>
          <a:p>
            <a:pPr marL="152400" indent="-152400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Tampilkan data untuk ke-15 kategori.</a:t>
            </a:r>
            <a:endParaRPr lang="en-US" sz="1200" dirty="0"/>
          </a:p>
          <a:p>
            <a:pPr marL="152400" indent="-152400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Jika terbukti turun, sediakan data </a:t>
            </a:r>
            <a:r>
              <a:rPr lang="en-US" sz="120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20 produk</a:t>
            </a: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yang mengalami penurunan tertinggi.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24371" y="5415915"/>
            <a:ext cx="5148072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ini akan digunakan sebagai bahan diskusi meeting selanjutnya. Mohon dikirimkan maksimal dalam 4 hari kerja. Terima kasih atas bantuannya.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877943" y="669475"/>
            <a:ext cx="4818757" cy="6089845"/>
          </a:xfrm>
          <a:prstGeom prst="roundRect">
            <a:avLst>
              <a:gd name="adj" fmla="val 3163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7068443" y="1257571"/>
            <a:ext cx="4209157" cy="0"/>
          </a:xfrm>
          <a:prstGeom prst="line">
            <a:avLst/>
          </a:prstGeom>
          <a:noFill/>
          <a:ln w="19050">
            <a:solidFill>
              <a:srgbClr val="0288D1"/>
            </a:solidFill>
            <a:prstDash val="solid"/>
          </a:ln>
        </p:spPr>
      </p:sp>
      <p:pic>
        <p:nvPicPr>
          <p:cNvPr id="22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44551" y="871863"/>
            <a:ext cx="266700" cy="2667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35143" y="830361"/>
            <a:ext cx="1819656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Solusi No 2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7068443" y="1342017"/>
            <a:ext cx="4209157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7220843" y="1504950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217795" y="1494417"/>
            <a:ext cx="310896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677596" y="1494417"/>
            <a:ext cx="3456432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dengan status </a:t>
            </a:r>
            <a:r>
              <a:rPr lang="en-US" sz="1350" dirty="0">
                <a:ln>
                  <a:solidFill>
                    <a:schemeClr val="bg1"/>
                  </a:solidFill>
                </a:ln>
                <a:solidFill>
                  <a:srgbClr val="FFBF00">
                    <a:alpha val="25000"/>
                  </a:srgbClr>
                </a:solidFill>
                <a:highlight>
                  <a:srgbClr val="0000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valid = 1</a:t>
            </a:r>
            <a:endParaRPr lang="en-US" sz="135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8" name="Text 22"/>
          <p:cNvSpPr/>
          <p:nvPr/>
        </p:nvSpPr>
        <p:spPr>
          <a:xfrm>
            <a:off x="7068443" y="2301321"/>
            <a:ext cx="4209157" cy="819150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7220843" y="2453721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7217795" y="2453721"/>
            <a:ext cx="310896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677596" y="2453721"/>
            <a:ext cx="3456432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pada transaksi selama tahun </a:t>
            </a: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068443" y="3202986"/>
            <a:ext cx="4209157" cy="819150"/>
          </a:xfrm>
          <a:prstGeom prst="roundRect">
            <a:avLst>
              <a:gd name="adj" fmla="val 93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7220843" y="3368121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7217795" y="3355386"/>
            <a:ext cx="310896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7677596" y="3355386"/>
            <a:ext cx="3456432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pada transaksi selama tahun </a:t>
            </a: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7068443" y="4117386"/>
            <a:ext cx="4209157" cy="85725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7220843" y="4272834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7217795" y="4269786"/>
            <a:ext cx="310896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7677596" y="4269786"/>
            <a:ext cx="3456432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Gunakan fungsi </a:t>
            </a:r>
            <a:r>
              <a:rPr lang="en-US" sz="1350" dirty="0">
                <a:ln>
                  <a:solidFill>
                    <a:schemeClr val="bg1"/>
                  </a:solidFill>
                </a:ln>
                <a:solidFill>
                  <a:srgbClr val="FFBF00">
                    <a:alpha val="25000"/>
                  </a:srgbClr>
                </a:solidFill>
                <a:highlight>
                  <a:srgbClr val="0000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groupby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berdasarkan </a:t>
            </a:r>
            <a:r>
              <a:rPr lang="en-US" sz="1350" dirty="0">
                <a:ln>
                  <a:solidFill>
                    <a:schemeClr val="bg1"/>
                  </a:solidFill>
                </a:ln>
                <a:solidFill>
                  <a:srgbClr val="FFBF00">
                    <a:alpha val="25000"/>
                  </a:srgbClr>
                </a:solidFill>
                <a:highlight>
                  <a:srgbClr val="0000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sku_name</a:t>
            </a:r>
            <a:r>
              <a:rPr lang="en-US" sz="135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masing-masing tahun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7068443" y="5060361"/>
            <a:ext cx="4209157" cy="83820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7220843" y="5212761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7217795" y="5209358"/>
            <a:ext cx="310896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50" dirty="0"/>
          </a:p>
        </p:txBody>
      </p:sp>
      <p:sp>
        <p:nvSpPr>
          <p:cNvPr id="43" name="Text 37"/>
          <p:cNvSpPr/>
          <p:nvPr/>
        </p:nvSpPr>
        <p:spPr>
          <a:xfrm>
            <a:off x="7677596" y="5212761"/>
            <a:ext cx="3456432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Menggabungkan kedua data tersebut dengan fungsi </a:t>
            </a:r>
            <a:r>
              <a:rPr lang="en-US" sz="1350" dirty="0">
                <a:ln>
                  <a:solidFill>
                    <a:schemeClr val="bg1"/>
                  </a:solidFill>
                </a:ln>
                <a:solidFill>
                  <a:srgbClr val="FFBF00">
                    <a:alpha val="25000"/>
                  </a:srgbClr>
                </a:solidFill>
                <a:highlight>
                  <a:srgbClr val="0000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merge</a:t>
            </a:r>
            <a:endParaRPr lang="en-US" sz="1350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4" name="Text 38"/>
          <p:cNvSpPr/>
          <p:nvPr/>
        </p:nvSpPr>
        <p:spPr>
          <a:xfrm>
            <a:off x="7068443" y="5918182"/>
            <a:ext cx="4209157" cy="1114425"/>
          </a:xfrm>
          <a:prstGeom prst="roundRect">
            <a:avLst>
              <a:gd name="adj" fmla="val 6838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7220843" y="6022577"/>
            <a:ext cx="304800" cy="304800"/>
          </a:xfrm>
          <a:prstGeom prst="roundRect">
            <a:avLst>
              <a:gd name="adj" fmla="val 96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7201793" y="6002956"/>
            <a:ext cx="310896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50" dirty="0"/>
          </a:p>
        </p:txBody>
      </p:sp>
      <p:sp>
        <p:nvSpPr>
          <p:cNvPr id="47" name="Text 41"/>
          <p:cNvSpPr/>
          <p:nvPr/>
        </p:nvSpPr>
        <p:spPr>
          <a:xfrm>
            <a:off x="7677596" y="6022577"/>
            <a:ext cx="3456432" cy="8138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Lakukan pengurangan kolom </a:t>
            </a:r>
            <a:r>
              <a:rPr lang="en-US" sz="135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rgbClr val="FFBF00">
                    <a:alpha val="25000"/>
                  </a:srgbClr>
                </a:solidFill>
                <a:highlight>
                  <a:srgbClr val="0000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qty 2022</a:t>
            </a:r>
            <a:r>
              <a:rPr lang="en-US" sz="1350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 </a:t>
            </a:r>
            <a:r>
              <a:rPr lang="en-US" sz="1350" dirty="0">
                <a:ln>
                  <a:solidFill>
                    <a:schemeClr val="bg1"/>
                  </a:solidFill>
                </a:ln>
                <a:solidFill>
                  <a:srgbClr val="FFBF00">
                    <a:alpha val="25000"/>
                  </a:srgbClr>
                </a:solidFill>
                <a:highlight>
                  <a:srgbClr val="0000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qty 2021</a:t>
            </a: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untuk melihat selisih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9067800" y="-190500"/>
            <a:ext cx="2743200" cy="18288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>
            <a:alphaModFix amt="15000"/>
          </a:blip>
          <a:srcRect l="138" r="138"/>
          <a:stretch/>
        </p:blipFill>
        <p:spPr>
          <a:xfrm>
            <a:off x="190500" y="5324475"/>
            <a:ext cx="1724025" cy="115252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62000" y="571500"/>
            <a:ext cx="0" cy="971550"/>
          </a:xfrm>
          <a:prstGeom prst="line">
            <a:avLst/>
          </a:prstGeom>
          <a:noFill/>
          <a:ln w="76200">
            <a:solidFill>
              <a:srgbClr val="FFBF0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66800" y="571500"/>
            <a:ext cx="10570464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6800" y="1209675"/>
            <a:ext cx="266700" cy="266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33500" y="1209675"/>
            <a:ext cx="1030528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Jawaban no. 2.1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62000" y="1847850"/>
            <a:ext cx="106680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  <a:effectLst>
            <a:outerShdw blurRad="114300" dist="38100" dir="5400000" algn="bl" rotWithShape="0">
              <a:srgbClr val="E0E0E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5"/>
          <p:cNvSpPr/>
          <p:nvPr/>
        </p:nvSpPr>
        <p:spPr>
          <a:xfrm>
            <a:off x="1009650" y="2300288"/>
            <a:ext cx="10172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pic>
        <p:nvPicPr>
          <p:cNvPr id="11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9650" y="2057400"/>
            <a:ext cx="142875" cy="1333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2525" y="2057400"/>
            <a:ext cx="90525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7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 KODE 1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1009650" y="2457450"/>
            <a:ext cx="1037844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Menambahkan filter pada data frame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009650" y="2743200"/>
            <a:ext cx="1037844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df_filter = df_project[(df_project['is_valid'] == 1) &amp;\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314450" y="3076575"/>
            <a:ext cx="100675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(df_project.category == "Mobiles &amp; Tablets") &amp;\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314450" y="3409950"/>
            <a:ext cx="100675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(df_project.order_date &gt;= "2021-01-01") &amp;\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314450" y="3743325"/>
            <a:ext cx="100675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(df_project.order_date &lt;= "2021-12-31")]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762000" y="4400550"/>
            <a:ext cx="10668000" cy="3667125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9050">
            <a:solidFill>
              <a:srgbClr val="0288D1"/>
            </a:solidFill>
          </a:ln>
          <a:effectLst>
            <a:outerShdw blurRad="114300" dist="38100" dir="5400000" algn="bl" rotWithShape="0">
              <a:srgbClr val="E0E0E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3"/>
          <p:cNvSpPr/>
          <p:nvPr/>
        </p:nvSpPr>
        <p:spPr>
          <a:xfrm>
            <a:off x="1009650" y="4852988"/>
            <a:ext cx="1017270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pic>
        <p:nvPicPr>
          <p:cNvPr id="20" name="Image 4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9650" y="4610100"/>
            <a:ext cx="142875" cy="1333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52525" y="4610100"/>
            <a:ext cx="93268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7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 KODE 2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009650" y="5010150"/>
            <a:ext cx="1037844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Menambahkan dataframe tahun 2021 &amp; 2022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09650" y="5295900"/>
            <a:ext cx="1037844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data_2021 = pd.DataFrame(df_project[(df_project['is_valid'] == 1) &amp;\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314450" y="5629275"/>
            <a:ext cx="100675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(df_project.order_date.dt.year == 2021)]\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619250" y="5962650"/>
            <a:ext cx="975664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.groupby('category').agg({"qty_ordered":"sum"}))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009650" y="6296025"/>
            <a:ext cx="10378440" cy="82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09650" y="6448425"/>
            <a:ext cx="1037844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data_2022 = pd.DataFrame(df_project[(df_project['is_valid'] == 1) &amp;\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14450" y="6781800"/>
            <a:ext cx="100675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(df_project.order_date.dt.year == 2022)]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619250" y="7115175"/>
            <a:ext cx="975664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.groupby('category').agg({"qty_ordered":"sum"}))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009650" y="7448550"/>
            <a:ext cx="10378440" cy="82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09650" y="7600950"/>
            <a:ext cx="1037844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data_2021.head(10)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4250" y="-628650"/>
            <a:ext cx="2743200" cy="18288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 l="138" r="138"/>
          <a:stretch/>
        </p:blipFill>
        <p:spPr>
          <a:xfrm>
            <a:off x="-504825" y="4238625"/>
            <a:ext cx="1724025" cy="115252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600" y="1466850"/>
            <a:ext cx="6667500" cy="0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09600" y="457200"/>
            <a:ext cx="6675120" cy="1069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609600" y="1060704"/>
            <a:ext cx="6675120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Analisis Data SKU: Agregasi, Penggabungan &amp; Evaluasi Selisih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09600" y="1677762"/>
            <a:ext cx="5295900" cy="5041446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  <a:effectLst>
            <a:outerShdw dist="80822" dir="2700000" algn="bl" rotWithShape="0">
              <a:srgbClr val="0288D1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250" y="1828419"/>
            <a:ext cx="190500" cy="2095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7750" y="1818894"/>
            <a:ext cx="4709160" cy="22860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Persiapan Data (2021 &amp; 2022)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57250" y="2206399"/>
            <a:ext cx="4800600" cy="18288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857250" y="2199894"/>
            <a:ext cx="0" cy="1828800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047750" y="2314194"/>
            <a:ext cx="4462272" cy="160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Memfilter dan mengagregasi kuantitas pesanan 2021</a:t>
            </a: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data_2021 = pd.DataFrame( df_project[(df_project['is_valid'] == 1) &amp; (df_project['category'] == "Others") &amp; (df_project.order_date.dt.year == 2021)] .groupby('sku_name') .agg({"qty_ordered": "sum"}))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931164" y="4349524"/>
            <a:ext cx="4800600" cy="18288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857250" y="4349524"/>
            <a:ext cx="0" cy="1828800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47750" y="4463824"/>
            <a:ext cx="4462272" cy="160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Memfilter dan mengagregasi kuantitas pesanan 2022</a:t>
            </a: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data_2022 = pd.DataFrame( df_project[(df_project['is_valid'] == 1) &amp; (df_project['category'] == "Others") &amp; (df_project.order_date.dt.year == 2022)] .groupby('sku_name') .agg({"qty_ordered": "sum"}))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286500" y="1694116"/>
            <a:ext cx="5295900" cy="2905125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  <a:effectLst>
            <a:outerShdw dist="80822" dir="2700000" algn="bl" rotWithShape="0">
              <a:srgbClr val="0288D1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34150" y="1951291"/>
            <a:ext cx="190500" cy="2095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4650" y="1941766"/>
            <a:ext cx="4709160" cy="22860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Penggabungan Data (Merge)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534150" y="2303716"/>
            <a:ext cx="4800600" cy="20288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6534150" y="2322766"/>
            <a:ext cx="0" cy="2028825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724650" y="2437066"/>
            <a:ext cx="4462272" cy="18013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Menggabungkan data 2021 dan 2022 berdasarkan sku_name</a:t>
            </a: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data_all_sku = data_2021.merge( data_2022, on="sku_name", how="left", suffixes=('_2021', '_2022')).reset_index()data_all_sku.head()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286500" y="3620834"/>
            <a:ext cx="5295900" cy="30861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0057B8"/>
            </a:solidFill>
          </a:ln>
          <a:effectLst>
            <a:outerShdw dist="80822" dir="2700000" algn="bl" rotWithShape="0">
              <a:srgbClr val="0288D1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150" y="3759707"/>
            <a:ext cx="190500" cy="2095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24650" y="3750182"/>
            <a:ext cx="4709160" cy="228600"/>
          </a:xfrm>
          <a:prstGeom prst="rect">
            <a:avLst/>
          </a:prstGeom>
          <a:noFill/>
          <a:ln/>
        </p:spPr>
        <p:txBody>
          <a:bodyPr vert="horz" wrap="none" lIns="1143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Selisih &amp; Top 20 SKU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534150" y="4057650"/>
            <a:ext cx="4800600" cy="12287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0"/>
          <p:cNvSpPr/>
          <p:nvPr/>
        </p:nvSpPr>
        <p:spPr>
          <a:xfrm>
            <a:off x="6534150" y="4047840"/>
            <a:ext cx="0" cy="1228725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724650" y="4162140"/>
            <a:ext cx="4462272" cy="1005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Menghitung selisih kuantitas (2022 dikurangi 2021)</a:t>
            </a: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data_all_sku['selisih'] = data_all_sku['qty_ordered_2022'] \ - data_all_sku['qty_ordered_2021']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534150" y="5511377"/>
            <a:ext cx="4800600" cy="8286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3"/>
          <p:cNvSpPr/>
          <p:nvPr/>
        </p:nvSpPr>
        <p:spPr>
          <a:xfrm>
            <a:off x="6534150" y="5511377"/>
            <a:ext cx="0" cy="828675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724650" y="5625677"/>
            <a:ext cx="4462272" cy="603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Mengambil 20 SKU dengan penurunan/perubahan terbesar</a:t>
            </a: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top20 = data_all_sku.sort_values('selisih').head(20)top20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70089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7734300" y="-190500"/>
            <a:ext cx="2743200" cy="18288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138" r="138"/>
          <a:stretch/>
        </p:blipFill>
        <p:spPr>
          <a:xfrm>
            <a:off x="-190500" y="5800725"/>
            <a:ext cx="1724025" cy="11525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76250"/>
            <a:ext cx="1044327" cy="495300"/>
          </a:xfrm>
          <a:prstGeom prst="roundRect">
            <a:avLst>
              <a:gd name="adj" fmla="val 15385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5488" y="476250"/>
            <a:ext cx="1051560" cy="502920"/>
          </a:xfrm>
          <a:prstGeom prst="rect">
            <a:avLst/>
          </a:prstGeom>
          <a:noFill/>
          <a:ln/>
        </p:spPr>
        <p:txBody>
          <a:bodyPr vert="horz" wrap="square" lIns="228600" tIns="114300" rIns="228600" bIns="11430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3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731392" y="457200"/>
            <a:ext cx="7187184" cy="5394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457200" y="1295400"/>
            <a:ext cx="6537871" cy="5392511"/>
          </a:xfrm>
          <a:prstGeom prst="roundRect">
            <a:avLst>
              <a:gd name="adj" fmla="val 2492"/>
            </a:avLst>
          </a:prstGeom>
          <a:solidFill>
            <a:srgbClr val="FFFFFF"/>
          </a:solidFill>
          <a:ln w="28575">
            <a:solidFill>
              <a:srgbClr val="0057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790575" y="1953986"/>
            <a:ext cx="5871121" cy="0"/>
          </a:xfrm>
          <a:prstGeom prst="line">
            <a:avLst/>
          </a:prstGeom>
          <a:noFill/>
          <a:ln w="19050">
            <a:solidFill>
              <a:srgbClr val="757575"/>
            </a:solidFill>
            <a:prstDash val="solid"/>
          </a:ln>
        </p:spPr>
      </p:sp>
      <p:pic>
        <p:nvPicPr>
          <p:cNvPr id="10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3425" y="1475450"/>
            <a:ext cx="266700" cy="2667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7275" y="1458686"/>
            <a:ext cx="571500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Permintaan Data Analyst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792435" y="2154011"/>
            <a:ext cx="598932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Dari: Tim Digital Marketing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92435" y="2544536"/>
            <a:ext cx="587044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Terkait ulang tahun perusahaan pada 2 bulan mendatang, kami akan memberikan informasi promo bagi pelanggan pada akhir bulan ini.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90575" y="3542920"/>
            <a:ext cx="0" cy="1019175"/>
          </a:xfrm>
          <a:prstGeom prst="line">
            <a:avLst/>
          </a:prstGeom>
          <a:noFill/>
          <a:ln w="5715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15" name="Text 10"/>
          <p:cNvSpPr/>
          <p:nvPr/>
        </p:nvSpPr>
        <p:spPr>
          <a:xfrm>
            <a:off x="1078185" y="3296032"/>
            <a:ext cx="5696712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Kriteria Pelanggan (Tahun 2022)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076325" y="3648457"/>
            <a:ext cx="563299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Sudah melakukan check-out</a:t>
            </a:r>
            <a:endParaRPr lang="en-US" sz="1350" dirty="0"/>
          </a:p>
          <a:p>
            <a:pPr marL="152400" indent="-152400" algn="l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Belum melakukan pembayaran (is_gross = 1)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90575" y="4781550"/>
            <a:ext cx="0" cy="1019175"/>
          </a:xfrm>
          <a:prstGeom prst="line">
            <a:avLst/>
          </a:prstGeom>
          <a:noFill/>
          <a:ln w="5715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18" name="Text 13"/>
          <p:cNvSpPr/>
          <p:nvPr/>
        </p:nvSpPr>
        <p:spPr>
          <a:xfrm>
            <a:off x="1078185" y="4620007"/>
            <a:ext cx="5696712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yang Dibutuhkan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076325" y="4972432"/>
            <a:ext cx="563299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Customer</a:t>
            </a:r>
            <a:endParaRPr lang="en-US" sz="1350" dirty="0"/>
          </a:p>
          <a:p>
            <a:pPr marL="152400" indent="-152400" algn="l">
              <a:lnSpc>
                <a:spcPts val="2025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Date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92435" y="5829682"/>
            <a:ext cx="5870448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Mohon bantuan untuk mengirimkan data tersebut sebelum akhir bulan ini. Terima kasih atas bantuannya.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376071" y="1295400"/>
            <a:ext cx="4358729" cy="5392511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28575">
            <a:solidFill>
              <a:srgbClr val="FFBF00"/>
            </a:solidFill>
          </a:ln>
          <a:effectLst>
            <a:outerShdw dist="107763" dir="2700000" algn="bl" rotWithShape="0">
              <a:srgbClr val="FFB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09446" y="1628775"/>
            <a:ext cx="304800" cy="3333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14246" y="1628775"/>
            <a:ext cx="3465576" cy="338328"/>
          </a:xfrm>
          <a:prstGeom prst="rect">
            <a:avLst/>
          </a:prstGeom>
          <a:noFill/>
          <a:ln/>
        </p:spPr>
        <p:txBody>
          <a:bodyPr vert="horz" wrap="none" lIns="1524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Klik disini untuk tips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8014246" y="2190750"/>
            <a:ext cx="3434804" cy="320397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marL="152400" indent="-152400" algn="l">
              <a:lnSpc>
                <a:spcPts val="2310"/>
              </a:lnSpc>
              <a:spcAft>
                <a:spcPts val="15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dengan </a:t>
            </a:r>
            <a:r>
              <a:rPr lang="en-US" sz="165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= 1</a:t>
            </a:r>
            <a:endParaRPr lang="en-US" sz="1650" dirty="0"/>
          </a:p>
          <a:p>
            <a:pPr marL="152400" indent="-152400" algn="l">
              <a:lnSpc>
                <a:spcPts val="2310"/>
              </a:lnSpc>
              <a:spcAft>
                <a:spcPts val="1500"/>
              </a:spcAft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dengan </a:t>
            </a:r>
            <a:r>
              <a:rPr lang="en-US" sz="165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= 0</a:t>
            </a:r>
            <a:endParaRPr lang="en-US" sz="1650" dirty="0"/>
          </a:p>
          <a:p>
            <a:pPr marL="152400" indent="-152400" algn="l">
              <a:lnSpc>
                <a:spcPts val="2310"/>
              </a:lnSpc>
              <a:spcAft>
                <a:spcPts val="1500"/>
              </a:spcAft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dengan </a:t>
            </a:r>
            <a:r>
              <a:rPr lang="en-US" sz="165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= 0</a:t>
            </a:r>
            <a:endParaRPr lang="en-US" sz="1650" dirty="0"/>
          </a:p>
          <a:p>
            <a:pPr marL="152400" indent="-152400" algn="l">
              <a:lnSpc>
                <a:spcPts val="2310"/>
              </a:lnSpc>
              <a:spcAft>
                <a:spcPts val="1500"/>
              </a:spcAft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pada transaksi selama tahun </a:t>
            </a:r>
            <a:r>
              <a:rPr lang="en-US" sz="165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name="adj" fmla="val 240000"/>
            </a:avLst>
          </a:prstGeom>
          <a:solidFill>
            <a:srgbClr val="0057B8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476250" y="4476750"/>
            <a:ext cx="2857500" cy="2857500"/>
          </a:xfrm>
          <a:prstGeom prst="roundRect">
            <a:avLst>
              <a:gd name="adj" fmla="val 320000"/>
            </a:avLst>
          </a:prstGeom>
          <a:solidFill>
            <a:srgbClr val="0288D1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1510605"/>
            <a:ext cx="10972800" cy="0"/>
          </a:xfrm>
          <a:prstGeom prst="line">
            <a:avLst/>
          </a:prstGeom>
          <a:noFill/>
          <a:ln w="19050">
            <a:solidFill>
              <a:srgbClr val="FFB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0865" y="455265"/>
            <a:ext cx="7187184" cy="5577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091505"/>
            <a:ext cx="228600" cy="2476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200" y="1081980"/>
            <a:ext cx="6949440" cy="274320"/>
          </a:xfrm>
          <a:prstGeom prst="rect">
            <a:avLst/>
          </a:prstGeom>
          <a:noFill/>
          <a:ln/>
        </p:spPr>
        <p:txBody>
          <a:bodyPr vert="horz" wrap="none" lIns="9525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Jawaban No 3.1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" y="1824930"/>
            <a:ext cx="5818882" cy="981075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blurRad="3810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525" y="1991618"/>
            <a:ext cx="171450" cy="190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42975" y="1986855"/>
            <a:ext cx="5431536" cy="201168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Informasi DataFrame (df_project)</a:t>
            </a:r>
            <a:endParaRPr lang="en-US" sz="1350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525" y="2267843"/>
            <a:ext cx="133350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4875" y="2263080"/>
            <a:ext cx="2862072" cy="155448"/>
          </a:xfrm>
          <a:prstGeom prst="rect">
            <a:avLst/>
          </a:prstGeom>
          <a:noFill/>
          <a:ln/>
        </p:spPr>
        <p:txBody>
          <a:bodyPr vert="horz" wrap="none" lIns="5715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Kelas: </a:t>
            </a:r>
            <a:r>
              <a:rPr lang="en-US" sz="10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pandas.core.frame.DataFrame</a:t>
            </a:r>
            <a:endParaRPr lang="en-US" sz="1050" dirty="0"/>
          </a:p>
        </p:txBody>
      </p:sp>
      <p:pic>
        <p:nvPicPr>
          <p:cNvPr id="15" name="Image 3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80830" y="2267843"/>
            <a:ext cx="133350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14180" y="2263080"/>
            <a:ext cx="2404872" cy="155448"/>
          </a:xfrm>
          <a:prstGeom prst="rect">
            <a:avLst/>
          </a:prstGeom>
          <a:noFill/>
          <a:ln/>
        </p:spPr>
        <p:txBody>
          <a:bodyPr vert="horz" wrap="none" lIns="5715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Baris: </a:t>
            </a:r>
            <a:r>
              <a:rPr lang="en-US" sz="10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5884 entri</a:t>
            </a:r>
            <a:endParaRPr lang="en-US" sz="1050" dirty="0"/>
          </a:p>
        </p:txBody>
      </p:sp>
      <p:pic>
        <p:nvPicPr>
          <p:cNvPr id="17" name="Image 4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525" y="2496443"/>
            <a:ext cx="133350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04875" y="2491680"/>
            <a:ext cx="2862072" cy="155448"/>
          </a:xfrm>
          <a:prstGeom prst="rect">
            <a:avLst/>
          </a:prstGeom>
          <a:noFill/>
          <a:ln/>
        </p:spPr>
        <p:txBody>
          <a:bodyPr vert="horz" wrap="none" lIns="5715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Kolom: </a:t>
            </a:r>
            <a:r>
              <a:rPr lang="en-US" sz="10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total</a:t>
            </a:r>
            <a:endParaRPr lang="en-US" sz="1050" dirty="0"/>
          </a:p>
        </p:txBody>
      </p:sp>
      <p:pic>
        <p:nvPicPr>
          <p:cNvPr id="19" name="Image 5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80830" y="2496443"/>
            <a:ext cx="133350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914180" y="2491680"/>
            <a:ext cx="2404872" cy="155448"/>
          </a:xfrm>
          <a:prstGeom prst="rect">
            <a:avLst/>
          </a:prstGeom>
          <a:noFill/>
          <a:ln/>
        </p:spPr>
        <p:txBody>
          <a:bodyPr vert="horz" wrap="none" lIns="5715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Memori: </a:t>
            </a:r>
            <a:r>
              <a:rPr lang="en-US" sz="10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1011.4+ KB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609600" y="3034605"/>
            <a:ext cx="5818882" cy="3514725"/>
          </a:xfrm>
          <a:prstGeom prst="roundRect">
            <a:avLst>
              <a:gd name="adj" fmla="val 2168"/>
            </a:avLst>
          </a:prstGeom>
          <a:solidFill>
            <a:srgbClr val="F8F9FA"/>
          </a:solidFill>
          <a:ln/>
          <a:effectLst>
            <a:outerShdw blurRad="57150" dist="381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4"/>
          <p:cNvSpPr/>
          <p:nvPr/>
        </p:nvSpPr>
        <p:spPr>
          <a:xfrm>
            <a:off x="609600" y="3034605"/>
            <a:ext cx="0" cy="3514725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800100" y="3420368"/>
            <a:ext cx="547598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pic>
        <p:nvPicPr>
          <p:cNvPr id="24" name="Image 6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0100" y="3187005"/>
            <a:ext cx="152400" cy="1524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52500" y="3187005"/>
            <a:ext cx="193852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28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 Kolom Kunci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370314" y="3187005"/>
            <a:ext cx="9235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df_project.info()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800100" y="3501330"/>
            <a:ext cx="5475982" cy="2895600"/>
          </a:xfrm>
          <a:prstGeom prst="roundRect">
            <a:avLst>
              <a:gd name="adj" fmla="val 1316"/>
            </a:avLst>
          </a:prstGeom>
          <a:solidFill>
            <a:srgbClr val="2728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9"/>
          <p:cNvSpPr/>
          <p:nvPr/>
        </p:nvSpPr>
        <p:spPr>
          <a:xfrm>
            <a:off x="799654" y="3501330"/>
            <a:ext cx="5477256" cy="2898648"/>
          </a:xfrm>
          <a:prstGeom prst="rect">
            <a:avLst/>
          </a:prstGeom>
          <a:noFill/>
          <a:ln/>
        </p:spPr>
        <p:txBody>
          <a:bodyPr vert="horz" wrap="square" lIns="114300" tIns="114300" rIns="114300" bIns="11430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57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 Non-Null Count Dtype</a:t>
            </a:r>
            <a:r>
              <a:rPr lang="en-US" sz="825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------ -------------- -----0 id 5884 non-null object1 customer_id 5884 non-null object2 order_date 5884 non-null datetime64[ns]...9 is_gross 5884 non-null int6410 is_valid 5884 non-null int6411 is_net 5884 non-null int64...18 registered_date 5884 non-null datetime64[ns]...</a:t>
            </a:r>
            <a:r>
              <a:rPr lang="en-US" sz="825" dirty="0">
                <a:solidFill>
                  <a:srgbClr val="7571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dtypes: datetime64[ns](2), int64(12), object(8)</a:t>
            </a:r>
            <a:endParaRPr lang="en-US" sz="825" dirty="0"/>
          </a:p>
        </p:txBody>
      </p:sp>
      <p:sp>
        <p:nvSpPr>
          <p:cNvPr id="29" name="Text 20"/>
          <p:cNvSpPr/>
          <p:nvPr/>
        </p:nvSpPr>
        <p:spPr>
          <a:xfrm>
            <a:off x="6733282" y="1824930"/>
            <a:ext cx="4849118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1"/>
          <p:cNvSpPr/>
          <p:nvPr/>
        </p:nvSpPr>
        <p:spPr>
          <a:xfrm>
            <a:off x="6733282" y="1843980"/>
            <a:ext cx="4849118" cy="0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pic>
        <p:nvPicPr>
          <p:cNvPr id="31" name="Image 7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61882" y="2101155"/>
            <a:ext cx="190500" cy="2095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152382" y="2091630"/>
            <a:ext cx="4288536" cy="22860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Pemfilteran Data</a:t>
            </a:r>
            <a:endParaRPr lang="en-US" sz="1500" dirty="0"/>
          </a:p>
        </p:txBody>
      </p:sp>
      <p:sp>
        <p:nvSpPr>
          <p:cNvPr id="33" name="Text 23"/>
          <p:cNvSpPr/>
          <p:nvPr/>
        </p:nvSpPr>
        <p:spPr>
          <a:xfrm>
            <a:off x="6962329" y="2472630"/>
            <a:ext cx="4398264" cy="310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Menyaring data berdasarkan kondisi tertentu &amp; memilih kolom: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6961882" y="2853630"/>
            <a:ext cx="4391918" cy="7620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25"/>
          <p:cNvSpPr/>
          <p:nvPr/>
        </p:nvSpPr>
        <p:spPr>
          <a:xfrm>
            <a:off x="6961882" y="2853630"/>
            <a:ext cx="0" cy="762000"/>
          </a:xfrm>
          <a:prstGeom prst="line">
            <a:avLst/>
          </a:prstGeom>
          <a:noFill/>
          <a:ln w="28575">
            <a:solidFill>
              <a:srgbClr val="0288D1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6962329" y="2853630"/>
            <a:ext cx="4398264" cy="768096"/>
          </a:xfrm>
          <a:prstGeom prst="rect">
            <a:avLst/>
          </a:prstGeom>
          <a:noFill/>
          <a:ln/>
        </p:spPr>
        <p:txBody>
          <a:bodyPr vert="horz" wrap="square" lIns="114300" tIns="114300" rIns="114300" bIns="11430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0057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= df_project[ (df_project.is_gross==</a:t>
            </a:r>
            <a:r>
              <a:rPr lang="en-US" sz="900" dirty="0">
                <a:solidFill>
                  <a:srgbClr val="D3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 &amp; (df_project.is_valid==</a:t>
            </a:r>
            <a:r>
              <a:rPr lang="en-US" sz="900" dirty="0">
                <a:solidFill>
                  <a:srgbClr val="D3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 &amp; (df_project.is_net==</a:t>
            </a:r>
            <a:r>
              <a:rPr lang="en-US" sz="900" dirty="0">
                <a:solidFill>
                  <a:srgbClr val="D3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 &amp; (df_project.order_date.dt.year==</a:t>
            </a:r>
            <a:r>
              <a:rPr lang="en-US" sz="900" dirty="0">
                <a:solidFill>
                  <a:srgbClr val="D3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2022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)][['customer_id','registered_date']]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6733282" y="4225230"/>
            <a:ext cx="4849118" cy="23241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28"/>
          <p:cNvSpPr/>
          <p:nvPr/>
        </p:nvSpPr>
        <p:spPr>
          <a:xfrm>
            <a:off x="6733282" y="4244280"/>
            <a:ext cx="4849118" cy="0"/>
          </a:xfrm>
          <a:prstGeom prst="line">
            <a:avLst/>
          </a:prstGeom>
          <a:noFill/>
          <a:ln w="38100">
            <a:solidFill>
              <a:srgbClr val="FFBF00"/>
            </a:solidFill>
            <a:prstDash val="solid"/>
          </a:ln>
        </p:spPr>
      </p:sp>
      <p:pic>
        <p:nvPicPr>
          <p:cNvPr id="39" name="Image 8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1882" y="4501455"/>
            <a:ext cx="190500" cy="20955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52382" y="4491930"/>
            <a:ext cx="4288536" cy="22860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Ekspor &amp; Unduh Data</a:t>
            </a:r>
            <a:endParaRPr lang="en-US" sz="1500" dirty="0"/>
          </a:p>
        </p:txBody>
      </p:sp>
      <p:sp>
        <p:nvSpPr>
          <p:cNvPr id="41" name="Text 30"/>
          <p:cNvSpPr/>
          <p:nvPr/>
        </p:nvSpPr>
        <p:spPr>
          <a:xfrm>
            <a:off x="6962329" y="4872930"/>
            <a:ext cx="448056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Menyimpan sebagai CSV &amp; Mengunduh file:</a:t>
            </a:r>
            <a:endParaRPr lang="en-US" sz="1050" dirty="0"/>
          </a:p>
        </p:txBody>
      </p:sp>
      <p:sp>
        <p:nvSpPr>
          <p:cNvPr id="42" name="Text 31"/>
          <p:cNvSpPr/>
          <p:nvPr/>
        </p:nvSpPr>
        <p:spPr>
          <a:xfrm>
            <a:off x="6961882" y="5101530"/>
            <a:ext cx="4391918" cy="49530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32"/>
          <p:cNvSpPr/>
          <p:nvPr/>
        </p:nvSpPr>
        <p:spPr>
          <a:xfrm>
            <a:off x="6961882" y="5101530"/>
            <a:ext cx="0" cy="495300"/>
          </a:xfrm>
          <a:prstGeom prst="line">
            <a:avLst/>
          </a:prstGeom>
          <a:noFill/>
          <a:ln w="28575">
            <a:solidFill>
              <a:srgbClr val="0288D1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6962329" y="5101530"/>
            <a:ext cx="4398264" cy="502920"/>
          </a:xfrm>
          <a:prstGeom prst="rect">
            <a:avLst/>
          </a:prstGeom>
          <a:noFill/>
          <a:ln/>
        </p:spPr>
        <p:txBody>
          <a:bodyPr vert="horz" wrap="square" lIns="114300" tIns="114300" rIns="114300" bIns="11430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75715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Ekspor ke CSV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df_project.to_csv(</a:t>
            </a:r>
            <a:r>
              <a:rPr lang="en-US" sz="900" dirty="0">
                <a:solidFill>
                  <a:srgbClr val="388E3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'audience_list.csv'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encoding=</a:t>
            </a:r>
            <a:r>
              <a:rPr lang="en-US" sz="900" dirty="0">
                <a:solidFill>
                  <a:srgbClr val="388E3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'utf-8-sig'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, index=False)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6961882" y="5673030"/>
            <a:ext cx="4391918" cy="49530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35"/>
          <p:cNvSpPr/>
          <p:nvPr/>
        </p:nvSpPr>
        <p:spPr>
          <a:xfrm>
            <a:off x="6961882" y="5673030"/>
            <a:ext cx="0" cy="495300"/>
          </a:xfrm>
          <a:prstGeom prst="line">
            <a:avLst/>
          </a:prstGeom>
          <a:noFill/>
          <a:ln w="28575">
            <a:solidFill>
              <a:srgbClr val="0288D1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6962329" y="5673030"/>
            <a:ext cx="4398264" cy="502920"/>
          </a:xfrm>
          <a:prstGeom prst="rect">
            <a:avLst/>
          </a:prstGeom>
          <a:noFill/>
          <a:ln/>
        </p:spPr>
        <p:txBody>
          <a:bodyPr vert="horz" wrap="square" lIns="114300" tIns="114300" rIns="114300" bIns="11430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75715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Jalankan kode ini untuk mendownload file</a:t>
            </a:r>
            <a:r>
              <a:rPr lang="en-US" sz="900" dirty="0">
                <a:solidFill>
                  <a:srgbClr val="F9267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from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google.colab </a:t>
            </a:r>
            <a:r>
              <a:rPr lang="en-US" sz="900" dirty="0">
                <a:solidFill>
                  <a:srgbClr val="F9267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filesfiles.download(</a:t>
            </a:r>
            <a:r>
              <a:rPr lang="en-US" sz="900" dirty="0">
                <a:solidFill>
                  <a:srgbClr val="388E3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'audience_list.csv'</a:t>
            </a:r>
            <a:r>
              <a:rPr lang="en-US" sz="9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10382250" y="190500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/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9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382250" y="190500"/>
            <a:ext cx="1428750" cy="95250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381000" y="5715000"/>
            <a:ext cx="1143000" cy="762000"/>
          </a:xfrm>
          <a:prstGeom prst="roundRect">
            <a:avLst>
              <a:gd name="adj" fmla="val 5000"/>
            </a:avLst>
          </a:prstGeom>
          <a:solidFill>
            <a:srgbClr val="FFFFFF">
              <a:alpha val="80000"/>
            </a:srgbClr>
          </a:solidFill>
          <a:ln/>
          <a:effectLst>
            <a:outerShdw blurRad="381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10" descr="image.png"/>
          <p:cNvPicPr>
            <a:picLocks noChangeAspect="1"/>
          </p:cNvPicPr>
          <p:nvPr/>
        </p:nvPicPr>
        <p:blipFill>
          <a:blip r:embed="rId10">
            <a:alphaModFix amt="80000"/>
          </a:blip>
          <a:srcRect/>
          <a:stretch/>
        </p:blipFill>
        <p:spPr>
          <a:xfrm>
            <a:off x="381000" y="5715000"/>
            <a:ext cx="1143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34250" y="-628650"/>
            <a:ext cx="2743200" cy="18288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 l="138" r="138"/>
          <a:stretch/>
        </p:blipFill>
        <p:spPr>
          <a:xfrm>
            <a:off x="-504825" y="4238625"/>
            <a:ext cx="1724025" cy="11525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7442" y="458093"/>
            <a:ext cx="5788152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1668661"/>
            <a:ext cx="2705398" cy="314325"/>
          </a:xfrm>
          <a:prstGeom prst="roundRect">
            <a:avLst>
              <a:gd name="adj" fmla="val 12121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62149" y="1725811"/>
            <a:ext cx="245059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Kasus Analisis Data No 4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09600" y="2211586"/>
            <a:ext cx="5777359" cy="6084094"/>
          </a:xfrm>
          <a:prstGeom prst="roundRect">
            <a:avLst>
              <a:gd name="adj" fmla="val 2638"/>
            </a:avLst>
          </a:prstGeom>
          <a:solidFill>
            <a:srgbClr val="F4F8FD"/>
          </a:solidFill>
          <a:ln w="19050">
            <a:solidFill>
              <a:srgbClr val="0288D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450" y="2544961"/>
            <a:ext cx="228600" cy="2476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62050" y="2535436"/>
            <a:ext cx="5001768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Permintaan Analisis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31292" y="3028801"/>
            <a:ext cx="5239512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Dear Data Analyst,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31292" y="3428702"/>
            <a:ext cx="5138928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Pada bulan </a:t>
            </a:r>
            <a:r>
              <a:rPr lang="en-US" sz="12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Oktober hingga Desember 2022</a:t>
            </a: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kami melakukan campaign setiap hari </a:t>
            </a:r>
            <a:r>
              <a:rPr lang="en-US" sz="12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Sabtu dan Minggu</a:t>
            </a: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Kami hendak menilai, apakah campaign tersebut cukup berdampak pada kenaikan penjualan (</a:t>
            </a:r>
            <a:r>
              <a:rPr lang="en-US" sz="1200" i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before_discount</a:t>
            </a: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31292" y="4552504"/>
            <a:ext cx="5239512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Mohon bantuan untuk menampilkan data berikut: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33450" y="5026819"/>
            <a:ext cx="5177284" cy="1257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152400" indent="-152400" algn="l">
              <a:lnSpc>
                <a:spcPts val="1800"/>
              </a:lnSpc>
              <a:buSzPct val="100000"/>
              <a:buChar char="•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Rata-rata harian penjualan weekends (Sabtu dan Minggu) vs rata-rata harian penjualan weekdays (Senin-Jumat)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bulan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tersebut. Apakah ada peningkatan penjualan pada masing-masing bulan?</a:t>
            </a:r>
            <a:endParaRPr lang="en-US" sz="1125" dirty="0"/>
          </a:p>
          <a:p>
            <a:pPr marL="152400" indent="-152400" algn="l">
              <a:lnSpc>
                <a:spcPts val="1800"/>
              </a:lnSpc>
              <a:buSzPct val="100000"/>
              <a:buChar char="•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Rata-rata harian penjualan weekends vs weekdays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keseluruhan 3 bulan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tersebut.</a:t>
            </a:r>
            <a:endParaRPr lang="en-US" sz="1125" dirty="0"/>
          </a:p>
        </p:txBody>
      </p:sp>
      <p:pic>
        <p:nvPicPr>
          <p:cNvPr id="15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3450" y="6455569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6325" y="6436519"/>
            <a:ext cx="499262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028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Mohon bantuan untuk mengirimkan data tersebut paling lambat minggu depan. Atas bantuan yang diberikan, kami mengucapkan terima kasih.</a:t>
            </a:r>
            <a:endParaRPr lang="en-US" sz="1125" dirty="0"/>
          </a:p>
        </p:txBody>
      </p:sp>
      <p:sp>
        <p:nvSpPr>
          <p:cNvPr id="17" name="Shape 11"/>
          <p:cNvSpPr/>
          <p:nvPr/>
        </p:nvSpPr>
        <p:spPr>
          <a:xfrm>
            <a:off x="933450" y="7284244"/>
            <a:ext cx="5129659" cy="0"/>
          </a:xfrm>
          <a:prstGeom prst="line">
            <a:avLst/>
          </a:prstGeom>
          <a:noFill/>
          <a:ln w="19050">
            <a:solidFill>
              <a:srgbClr val="D1E4F9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31292" y="7444234"/>
            <a:ext cx="5239512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Regards,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931292" y="7726114"/>
            <a:ext cx="5239512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 Campaign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767959" y="457200"/>
            <a:ext cx="4814441" cy="6096000"/>
          </a:xfrm>
          <a:prstGeom prst="roundRect">
            <a:avLst>
              <a:gd name="adj" fmla="val 3165"/>
            </a:avLst>
          </a:prstGeom>
          <a:solidFill>
            <a:srgbClr val="FFFBF0"/>
          </a:solidFill>
          <a:ln w="19050">
            <a:solidFill>
              <a:srgbClr val="FFBF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91809" y="790575"/>
            <a:ext cx="228600" cy="2476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20409" y="781050"/>
            <a:ext cx="4023360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Klik Disini Untuk Tips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7091809" y="1276350"/>
            <a:ext cx="4214366" cy="495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152400" indent="-152400" algn="l">
              <a:lnSpc>
                <a:spcPts val="1800"/>
              </a:lnSpc>
              <a:buSzPct val="100000"/>
              <a:buFont typeface="+mj-lt"/>
              <a:buAutoNum type="arabicPeriod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Buatlah kolom baru untuk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day, month, dan month number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  <a:p>
            <a:pPr marL="152400" indent="-152400" algn="l">
              <a:lnSpc>
                <a:spcPts val="1800"/>
              </a:lnSpc>
              <a:buSzPct val="100000"/>
              <a:buFont typeface="+mj-lt"/>
              <a:buAutoNum type="arabicPeriod" startAt="2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dengan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= 1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  <a:p>
            <a:pPr marL="152400" indent="-152400" algn="l">
              <a:lnSpc>
                <a:spcPts val="1800"/>
              </a:lnSpc>
              <a:buSzPct val="100000"/>
              <a:buFont typeface="+mj-lt"/>
              <a:buAutoNum type="arabicPeriod" startAt="3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dengan day termasuk </a:t>
            </a:r>
            <a:r>
              <a:rPr lang="en-US" sz="1125" i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'Saturday', 'Sunday'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dengan menggunakan fungsi isin dan simpan dalam variable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'weekends'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  <a:p>
            <a:pPr marL="152400" indent="-152400" algn="l">
              <a:lnSpc>
                <a:spcPts val="1800"/>
              </a:lnSpc>
              <a:buSzPct val="100000"/>
              <a:buFont typeface="+mj-lt"/>
              <a:buAutoNum type="arabicPeriod" startAt="4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dengan day termasuk </a:t>
            </a:r>
            <a:r>
              <a:rPr lang="en-US" sz="1125" i="1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'Monday', 'Tuesday', 'Wednesday', 'Thursday', 'Friday'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dengan menggunakan fungsi isin dan simpan dengan variabel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'weekday'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  <a:p>
            <a:pPr marL="152400" indent="-152400" algn="l">
              <a:lnSpc>
                <a:spcPts val="1800"/>
              </a:lnSpc>
              <a:buSzPct val="100000"/>
              <a:buFont typeface="+mj-lt"/>
              <a:buAutoNum type="arabicPeriod" startAt="5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Memfilter data pada transaksi selama 2022 bulan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Oktober sampai dengan Desember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  <a:p>
            <a:pPr marL="152400" indent="-152400" algn="l">
              <a:lnSpc>
                <a:spcPts val="1800"/>
              </a:lnSpc>
              <a:buSzPct val="100000"/>
              <a:buFont typeface="+mj-lt"/>
              <a:buAutoNum type="arabicPeriod" startAt="6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Gunakan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groupby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berdasarkan pada masing-masing variabel.</a:t>
            </a:r>
            <a:endParaRPr lang="en-US" sz="1125" dirty="0"/>
          </a:p>
          <a:p>
            <a:pPr marL="152400" indent="-152400" algn="l">
              <a:lnSpc>
                <a:spcPts val="1800"/>
              </a:lnSpc>
              <a:buSzPct val="100000"/>
              <a:buFont typeface="+mj-lt"/>
              <a:buAutoNum type="arabicPeriod" startAt="7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Menggabungkan kedua data dengan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5" dirty="0"/>
          </a:p>
          <a:p>
            <a:pPr marL="152400" indent="-152400" algn="l">
              <a:lnSpc>
                <a:spcPts val="1800"/>
              </a:lnSpc>
              <a:buSzPct val="100000"/>
              <a:buFont typeface="+mj-lt"/>
              <a:buAutoNum type="arabicPeriod" startAt="8"/>
            </a:pP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Tampilkan pada </a:t>
            </a:r>
            <a:r>
              <a:rPr lang="en-US" sz="1125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grafik batang</a:t>
            </a:r>
            <a:r>
              <a:rPr lang="en-US" sz="1125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untuk melihat perbedaannya.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" y="9525"/>
            <a:ext cx="12172950" cy="228600"/>
          </a:xfrm>
          <a:prstGeom prst="rect">
            <a:avLst/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" y="6696075"/>
            <a:ext cx="12172950" cy="152400"/>
          </a:xfrm>
          <a:prstGeom prst="rect">
            <a:avLst/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7343775" y="-619125"/>
            <a:ext cx="2743200" cy="1828800"/>
          </a:xfrm>
          <a:prstGeom prst="rect">
            <a:avLst/>
          </a:prstGeom>
        </p:spPr>
      </p:pic>
      <p:pic>
        <p:nvPicPr>
          <p:cNvPr id="7" name="Image 1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138" r="138"/>
          <a:stretch/>
        </p:blipFill>
        <p:spPr>
          <a:xfrm>
            <a:off x="-495300" y="4248150"/>
            <a:ext cx="1724025" cy="11525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00250" y="837307"/>
            <a:ext cx="8191500" cy="5183386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38100">
            <a:solidFill>
              <a:srgbClr val="0057B8"/>
            </a:solidFill>
          </a:ln>
          <a:effectLst>
            <a:outerShdw dist="215526" dir="2700000" algn="bl" rotWithShape="0">
              <a:srgbClr val="FFB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647950" y="1485007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00350" y="1623120"/>
            <a:ext cx="304800" cy="333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47950" y="2324100"/>
            <a:ext cx="690372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12" name="Text 7"/>
          <p:cNvSpPr/>
          <p:nvPr/>
        </p:nvSpPr>
        <p:spPr>
          <a:xfrm>
            <a:off x="2647950" y="3572768"/>
            <a:ext cx="704088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Eksplorasi dan Analisis Data secara Interaktif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2647950" y="4296668"/>
            <a:ext cx="6896100" cy="1076325"/>
          </a:xfrm>
          <a:prstGeom prst="roundRect">
            <a:avLst>
              <a:gd name="adj" fmla="val 354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2647950" y="4296668"/>
            <a:ext cx="0" cy="1076325"/>
          </a:xfrm>
          <a:prstGeom prst="line">
            <a:avLst/>
          </a:prstGeom>
          <a:noFill/>
          <a:ln w="76200">
            <a:solidFill>
              <a:srgbClr val="0057B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028950" y="4525268"/>
            <a:ext cx="633679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5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PRATINJAU DATA PANDAS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3028950" y="4753868"/>
            <a:ext cx="6336792" cy="3931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df_project.head()</a:t>
            </a:r>
            <a:endParaRPr lang="en-US" sz="2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>
            <a:alphaModFix amt="80000"/>
          </a:blip>
          <a:srcRect/>
          <a:stretch/>
        </p:blipFill>
        <p:spPr>
          <a:xfrm>
            <a:off x="9448800" y="0"/>
            <a:ext cx="2743200" cy="18288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138" r="138"/>
          <a:stretch/>
        </p:blipFill>
        <p:spPr>
          <a:xfrm>
            <a:off x="0" y="5705475"/>
            <a:ext cx="1724025" cy="11525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1"/>
          <p:cNvSpPr/>
          <p:nvPr/>
        </p:nvSpPr>
        <p:spPr>
          <a:xfrm>
            <a:off x="571500" y="1276350"/>
            <a:ext cx="11049000" cy="0"/>
          </a:xfrm>
          <a:prstGeom prst="line">
            <a:avLst/>
          </a:prstGeom>
          <a:noFill/>
          <a:ln w="38100">
            <a:solidFill>
              <a:srgbClr val="0057B8"/>
            </a:solidFill>
            <a:prstDash val="solid"/>
          </a:ln>
        </p:spPr>
      </p:sp>
      <p:pic>
        <p:nvPicPr>
          <p:cNvPr id="6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590550"/>
            <a:ext cx="45720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82365" y="571500"/>
            <a:ext cx="7187184" cy="5394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8" name="Text 3"/>
          <p:cNvSpPr/>
          <p:nvPr/>
        </p:nvSpPr>
        <p:spPr>
          <a:xfrm>
            <a:off x="571500" y="1676400"/>
            <a:ext cx="5334000" cy="5114923"/>
          </a:xfrm>
          <a:prstGeom prst="roundRect">
            <a:avLst>
              <a:gd name="adj" fmla="val 2857"/>
            </a:avLst>
          </a:prstGeom>
          <a:solidFill>
            <a:srgbClr val="F9F9F9"/>
          </a:solidFill>
          <a:ln/>
          <a:effectLst>
            <a:outerShdw blurRad="114300" dist="38100" dir="5400000" algn="bl" rotWithShape="0">
              <a:srgbClr val="E0E0E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571500" y="1676400"/>
            <a:ext cx="0" cy="4981575"/>
          </a:xfrm>
          <a:prstGeom prst="line">
            <a:avLst/>
          </a:prstGeom>
          <a:noFill/>
          <a:ln w="76200">
            <a:solidFill>
              <a:srgbClr val="FFBF00"/>
            </a:solidFill>
            <a:prstDash val="solid"/>
          </a:ln>
        </p:spPr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6300" y="1914525"/>
            <a:ext cx="266700" cy="2952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19200" y="1905000"/>
            <a:ext cx="455371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Menambahkan Filter Tahun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876300" y="2371725"/>
            <a:ext cx="4800600" cy="4162425"/>
          </a:xfrm>
          <a:prstGeom prst="roundRect">
            <a:avLst>
              <a:gd name="adj" fmla="val 1587"/>
            </a:avLst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028700" y="2867025"/>
            <a:ext cx="45902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Menambahkan filter pada data frame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028700" y="3381375"/>
            <a:ext cx="45902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df_filter = df_project[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028700" y="3895725"/>
            <a:ext cx="45902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(df_project['is_valid'] == 1) &amp;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028700" y="4410075"/>
            <a:ext cx="4498848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(df_project.category == "Mobiles &amp; Tablets") &amp;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28700" y="5095875"/>
            <a:ext cx="45902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(df_project.order_date &gt;= "2021-01-01") &amp;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28700" y="5610225"/>
            <a:ext cx="45902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(df_project.order_date &lt;= "2021-12-31")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28700" y="6124575"/>
            <a:ext cx="45902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]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86500" y="1676400"/>
            <a:ext cx="5334000" cy="5114922"/>
          </a:xfrm>
          <a:prstGeom prst="roundRect">
            <a:avLst>
              <a:gd name="adj" fmla="val 2857"/>
            </a:avLst>
          </a:prstGeom>
          <a:solidFill>
            <a:srgbClr val="F9F9F9"/>
          </a:solidFill>
          <a:ln/>
          <a:effectLst>
            <a:outerShdw blurRad="114300" dist="38100" dir="5400000" algn="bl" rotWithShape="0">
              <a:srgbClr val="E0E0E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6286500" y="1676400"/>
            <a:ext cx="0" cy="4981575"/>
          </a:xfrm>
          <a:prstGeom prst="line">
            <a:avLst/>
          </a:prstGeom>
          <a:noFill/>
          <a:ln w="76200">
            <a:solidFill>
              <a:srgbClr val="FFBF00"/>
            </a:solidFill>
            <a:prstDash val="solid"/>
          </a:ln>
        </p:spPr>
      </p:sp>
      <p:pic>
        <p:nvPicPr>
          <p:cNvPr id="2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91300" y="1914525"/>
            <a:ext cx="266700" cy="2952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34200" y="1905000"/>
            <a:ext cx="455371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Jawaban 4.1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6591300" y="2371725"/>
            <a:ext cx="4800600" cy="2038350"/>
          </a:xfrm>
          <a:prstGeom prst="roundRect">
            <a:avLst>
              <a:gd name="adj" fmla="val 2041"/>
            </a:avLst>
          </a:prstGeom>
          <a:solidFill>
            <a:srgbClr val="ECEC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6743700" y="2469451"/>
            <a:ext cx="4498848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df_project['day_name'] = df_project['order_date'].dt.day_name()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743700" y="3552825"/>
            <a:ext cx="45902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743700" y="3040761"/>
            <a:ext cx="4498848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df_project['is_weekend'] = ["weekend" if x in ["Saturday", "Sunday"] else "weekdays" for x in df_project['day_name']]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743700" y="4924425"/>
            <a:ext cx="45902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743700" y="3752278"/>
            <a:ext cx="459028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df_project["is_weekend"]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591300" y="4470627"/>
            <a:ext cx="490118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Hasil Eksekusi: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6591300" y="4746852"/>
            <a:ext cx="4800600" cy="146685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6715125" y="4870677"/>
            <a:ext cx="464515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       weekdays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715125" y="5023077"/>
            <a:ext cx="464515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       weekdays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715125" y="5175477"/>
            <a:ext cx="464515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       weekdays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6715125" y="5327877"/>
            <a:ext cx="464515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       weekdays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6715125" y="5480277"/>
            <a:ext cx="464515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        weekend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6715125" y="5632677"/>
            <a:ext cx="464515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...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6715125" y="5785077"/>
            <a:ext cx="464515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5883     weekend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6715125" y="5937477"/>
            <a:ext cx="4645152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Name: is_weekend, Length: 5884, dtype: object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9448800" y="0"/>
            <a:ext cx="2743200" cy="1828800"/>
          </a:xfrm>
          <a:prstGeom prst="rect">
            <a:avLst/>
          </a:prstGeom>
        </p:spPr>
      </p:pic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138" r="138"/>
          <a:stretch/>
        </p:blipFill>
        <p:spPr>
          <a:xfrm>
            <a:off x="-190500" y="5895975"/>
            <a:ext cx="1724025" cy="1152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609600"/>
            <a:ext cx="11192256" cy="5394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untuk Google Colab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609600" y="1295400"/>
            <a:ext cx="762000" cy="57150"/>
          </a:xfrm>
          <a:prstGeom prst="roundRect">
            <a:avLst>
              <a:gd name="adj" fmla="val 66667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09600" y="1504950"/>
            <a:ext cx="1119225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Analisis Data dan Agregasi Berdasarkan Kategori Hari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09600" y="2152650"/>
            <a:ext cx="6355110" cy="32575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09600" y="2157413"/>
            <a:ext cx="6355110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964710" y="2152650"/>
            <a:ext cx="0" cy="325755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9600" y="5405438"/>
            <a:ext cx="6355110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9600" y="2152650"/>
            <a:ext cx="0" cy="3257550"/>
          </a:xfrm>
          <a:prstGeom prst="line">
            <a:avLst/>
          </a:prstGeom>
          <a:noFill/>
          <a:ln w="114300">
            <a:solidFill>
              <a:srgbClr val="0057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3900" y="2709863"/>
            <a:ext cx="6231285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500" y="2314575"/>
            <a:ext cx="190500" cy="190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314575"/>
            <a:ext cx="5696712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Blok Kode Input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53467" y="2943225"/>
            <a:ext cx="5779008" cy="384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75757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Tulis kode Anda di bawah ini. Dapat menggunakan lebih dari 1 blok kode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53467" y="3475658"/>
            <a:ext cx="588873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df_project[(df_project.order_date.dt.month &gt;= 10) &amp; \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53467" y="3749948"/>
            <a:ext cx="588873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(df_project.order_date.dt.month &lt;= 12) &amp; \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953467" y="4024238"/>
            <a:ext cx="588873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(df_project.order_date.dt.year == 2022)] \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53467" y="4297561"/>
            <a:ext cx="5779008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.groupby('is_weekend').agg({"before_discount": "sum"})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345710" y="2152650"/>
            <a:ext cx="4236690" cy="32575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7345710" y="2157413"/>
            <a:ext cx="4236690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582400" y="2152650"/>
            <a:ext cx="0" cy="325755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45710" y="5405438"/>
            <a:ext cx="4236690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45710" y="2152650"/>
            <a:ext cx="0" cy="3257550"/>
          </a:xfrm>
          <a:prstGeom prst="line">
            <a:avLst/>
          </a:prstGeom>
          <a:noFill/>
          <a:ln w="114300">
            <a:solidFill>
              <a:srgbClr val="FFBF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60010" y="2709863"/>
            <a:ext cx="4112865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pic>
        <p:nvPicPr>
          <p:cNvPr id="2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88610" y="2314575"/>
            <a:ext cx="190500" cy="1905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79110" y="2314575"/>
            <a:ext cx="3538728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Hasil Keluaran Data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7688610" y="3462338"/>
            <a:ext cx="3655665" cy="0"/>
          </a:xfrm>
          <a:prstGeom prst="line">
            <a:avLst/>
          </a:prstGeom>
          <a:noFill/>
          <a:ln w="28575">
            <a:solidFill>
              <a:srgbClr val="21212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64363" y="3095625"/>
            <a:ext cx="179222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is_weekend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9481018" y="3095625"/>
            <a:ext cx="179222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before_discount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7688610" y="3986213"/>
            <a:ext cx="3655665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764363" y="3629025"/>
            <a:ext cx="179222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weekdays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9481018" y="3629025"/>
            <a:ext cx="179222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275986968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7688610" y="4500563"/>
            <a:ext cx="3655665" cy="0"/>
          </a:xfrm>
          <a:prstGeom prst="line">
            <a:avLst/>
          </a:prstGeom>
          <a:noFill/>
          <a:ln w="9525">
            <a:solidFill>
              <a:srgbClr val="75757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764363" y="4143375"/>
            <a:ext cx="179222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weekend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9481018" y="4143375"/>
            <a:ext cx="179222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12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103536728</a:t>
            </a:r>
            <a:endParaRPr lang="en-US" sz="1350" dirty="0"/>
          </a:p>
        </p:txBody>
      </p:sp>
      <p:sp>
        <p:nvSpPr>
          <p:cNvPr id="39" name="Shape 33"/>
          <p:cNvSpPr/>
          <p:nvPr/>
        </p:nvSpPr>
        <p:spPr>
          <a:xfrm>
            <a:off x="609600" y="5800725"/>
            <a:ext cx="10972800" cy="0"/>
          </a:xfrm>
          <a:prstGeom prst="line">
            <a:avLst/>
          </a:prstGeom>
          <a:noFill/>
          <a:ln w="19050">
            <a:solidFill>
              <a:srgbClr val="757575"/>
            </a:solidFill>
            <a:prstDash val="solid"/>
          </a:ln>
        </p:spPr>
      </p:sp>
      <p:pic>
        <p:nvPicPr>
          <p:cNvPr id="40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600" y="6038850"/>
            <a:ext cx="171450" cy="17145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38198" y="6006421"/>
            <a:ext cx="5184648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288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 hanyalah materi pembelajaran untuk kita semua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8971136" y="6053138"/>
            <a:ext cx="267004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757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Terima kasih telah belajar di sini...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29500" y="-1905000"/>
            <a:ext cx="5715000" cy="5715000"/>
          </a:xfrm>
          <a:prstGeom prst="roundRect">
            <a:avLst>
              <a:gd name="adj" fmla="val 160000"/>
            </a:avLst>
          </a:prstGeom>
          <a:solidFill>
            <a:srgbClr val="F0F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476250" y="5429250"/>
            <a:ext cx="2857500" cy="2857500"/>
          </a:xfrm>
          <a:prstGeom prst="roundRect">
            <a:avLst>
              <a:gd name="adj" fmla="val 320000"/>
            </a:avLst>
          </a:prstGeom>
          <a:solidFill>
            <a:srgbClr val="FFF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0" y="1524000"/>
            <a:ext cx="3429000" cy="4381500"/>
          </a:xfrm>
          <a:prstGeom prst="roundRect">
            <a:avLst>
              <a:gd name="adj" fmla="val 4444"/>
            </a:avLst>
          </a:prstGeom>
          <a:solidFill>
            <a:srgbClr val="0057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500" y="938213"/>
            <a:ext cx="5340096" cy="1344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Bootcamp Data Analysis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52500" y="2432596"/>
            <a:ext cx="5440680" cy="3657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57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oleh @myskill.id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3023146"/>
            <a:ext cx="952500" cy="76200"/>
          </a:xfrm>
          <a:prstGeom prst="roundRect">
            <a:avLst>
              <a:gd name="adj" fmla="val 50000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52500" y="3556546"/>
            <a:ext cx="5440680" cy="4389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Ikuti Saya!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52500" y="4223296"/>
            <a:ext cx="5334000" cy="752475"/>
          </a:xfrm>
          <a:prstGeom prst="roundRect">
            <a:avLst>
              <a:gd name="adj" fmla="val 101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52500" y="4223296"/>
            <a:ext cx="0" cy="752475"/>
          </a:xfrm>
          <a:prstGeom prst="line">
            <a:avLst/>
          </a:prstGeom>
          <a:noFill/>
          <a:ln w="76200">
            <a:solidFill>
              <a:srgbClr val="0288D1"/>
            </a:solidFill>
            <a:prstDash val="solid"/>
          </a:ln>
        </p:spPr>
      </p:sp>
      <p:pic>
        <p:nvPicPr>
          <p:cNvPr id="1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3500" y="4413796"/>
            <a:ext cx="342900" cy="3714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76400" y="4223296"/>
            <a:ext cx="4617720" cy="758952"/>
          </a:xfrm>
          <a:prstGeom prst="rect">
            <a:avLst/>
          </a:prstGeom>
          <a:noFill/>
          <a:ln/>
        </p:spPr>
        <p:txBody>
          <a:bodyPr vert="horz" wrap="square" lIns="190500" tIns="190500" rIns="304800" bIns="19050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: harisariefkamis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52500" y="5166271"/>
            <a:ext cx="5334000" cy="752475"/>
          </a:xfrm>
          <a:prstGeom prst="roundRect">
            <a:avLst>
              <a:gd name="adj" fmla="val 101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952500" y="5166271"/>
            <a:ext cx="0" cy="752475"/>
          </a:xfrm>
          <a:prstGeom prst="line">
            <a:avLst/>
          </a:prstGeom>
          <a:noFill/>
          <a:ln w="76200">
            <a:solidFill>
              <a:srgbClr val="0288D1"/>
            </a:solidFill>
            <a:prstDash val="solid"/>
          </a:ln>
        </p:spPr>
      </p:sp>
      <p:pic>
        <p:nvPicPr>
          <p:cNvPr id="1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3500" y="5356771"/>
            <a:ext cx="342900" cy="3714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76400" y="5166271"/>
            <a:ext cx="4617720" cy="758952"/>
          </a:xfrm>
          <a:prstGeom prst="rect">
            <a:avLst/>
          </a:prstGeom>
          <a:noFill/>
          <a:ln/>
        </p:spPr>
        <p:txBody>
          <a:bodyPr vert="horz" wrap="square" lIns="190500" tIns="190500" rIns="304800" bIns="19050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: harisariefkamis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667500" y="4667250"/>
            <a:ext cx="1143000" cy="1143000"/>
          </a:xfrm>
          <a:prstGeom prst="roundRect">
            <a:avLst>
              <a:gd name="adj" fmla="val 6667"/>
            </a:avLst>
          </a:prstGeom>
          <a:solidFill>
            <a:srgbClr val="FFB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143750" y="1238250"/>
            <a:ext cx="3429000" cy="4381500"/>
          </a:xfrm>
          <a:prstGeom prst="roundRect">
            <a:avLst>
              <a:gd name="adj" fmla="val 4444"/>
            </a:avLst>
          </a:prstGeom>
          <a:noFill/>
          <a:ln w="114300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image.png"/>
          <p:cNvPicPr>
            <a:picLocks noChangeAspect="1"/>
          </p:cNvPicPr>
          <p:nvPr/>
        </p:nvPicPr>
        <p:blipFill>
          <a:blip r:embed="rId5"/>
          <a:srcRect l="850" r="850"/>
          <a:stretch/>
        </p:blipFill>
        <p:spPr>
          <a:xfrm>
            <a:off x="7258050" y="1352550"/>
            <a:ext cx="3200400" cy="415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3372</Words>
  <Application>Microsoft Office PowerPoint</Application>
  <PresentationFormat>Widescreen</PresentationFormat>
  <Paragraphs>400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Inter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ipmht bogor</cp:lastModifiedBy>
  <cp:revision>2</cp:revision>
  <dcterms:created xsi:type="dcterms:W3CDTF">2026-04-14T06:15:25Z</dcterms:created>
  <dcterms:modified xsi:type="dcterms:W3CDTF">2026-04-14T06:57:15Z</dcterms:modified>
</cp:coreProperties>
</file>